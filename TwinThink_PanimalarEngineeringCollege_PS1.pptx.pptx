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imo Bold" charset="1" panose="020B0704020202020204"/>
      <p:regular r:id="rId23"/>
    </p:embeddedFont>
    <p:embeddedFont>
      <p:font typeface="Open Sans" charset="1" panose="00000000000000000000"/>
      <p:regular r:id="rId24"/>
    </p:embeddedFont>
    <p:embeddedFont>
      <p:font typeface="Open Sans Italics" charset="1" panose="00000000000000000000"/>
      <p:regular r:id="rId25"/>
    </p:embeddedFont>
    <p:embeddedFont>
      <p:font typeface="Aptos Bold" charset="1" panose="020B0004020202020204"/>
      <p:regular r:id="rId26"/>
    </p:embeddedFont>
    <p:embeddedFont>
      <p:font typeface="Aptos" charset="1" panose="020B0004020202020204"/>
      <p:regular r:id="rId27"/>
    </p:embeddedFont>
    <p:embeddedFont>
      <p:font typeface="Open Sans Bold" charset="1" panose="00000000000000000000"/>
      <p:regular r:id="rId29"/>
    </p:embeddedFont>
    <p:embeddedFont>
      <p:font typeface="Arimo" charset="1" panose="020B060402020202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2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609107"/>
            <a:ext cx="16303523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0"/>
              </a:lnSpc>
            </a:pPr>
            <a:r>
              <a:rPr lang="en-US" sz="48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ProcuraAI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502371"/>
            <a:ext cx="16303523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 b="true">
                <a:solidFill>
                  <a:srgbClr val="4F8CFF"/>
                </a:solidFill>
                <a:latin typeface="Arimo Bold"/>
                <a:ea typeface="Arimo Bold"/>
                <a:cs typeface="Arimo Bold"/>
                <a:sym typeface="Arimo Bold"/>
              </a:rPr>
              <a:t>Autonomous Procurement Intelligence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5038" y="4204992"/>
            <a:ext cx="17217923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1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ROCKATHON'26 — Problem Statement 01: Autonomous Commerce Engineering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7476" y="4952409"/>
            <a:ext cx="5278641" cy="1457925"/>
            <a:chOff x="0" y="0"/>
            <a:chExt cx="7038188" cy="1943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38213" cy="1943862"/>
            </a:xfrm>
            <a:custGeom>
              <a:avLst/>
              <a:gdLst/>
              <a:ahLst/>
              <a:cxnLst/>
              <a:rect r="r" b="b" t="t" l="l"/>
              <a:pathLst>
                <a:path h="1943862" w="7038213">
                  <a:moveTo>
                    <a:pt x="0" y="139827"/>
                  </a:moveTo>
                  <a:cubicBezTo>
                    <a:pt x="0" y="62611"/>
                    <a:pt x="62611" y="0"/>
                    <a:pt x="139827" y="0"/>
                  </a:cubicBezTo>
                  <a:lnTo>
                    <a:pt x="6898386" y="0"/>
                  </a:lnTo>
                  <a:cubicBezTo>
                    <a:pt x="6975602" y="0"/>
                    <a:pt x="7038213" y="62611"/>
                    <a:pt x="7038213" y="139827"/>
                  </a:cubicBezTo>
                  <a:lnTo>
                    <a:pt x="7038213" y="1804035"/>
                  </a:lnTo>
                  <a:cubicBezTo>
                    <a:pt x="7038213" y="1881251"/>
                    <a:pt x="6975602" y="1943862"/>
                    <a:pt x="6898386" y="1943862"/>
                  </a:cubicBezTo>
                  <a:lnTo>
                    <a:pt x="139827" y="1943862"/>
                  </a:lnTo>
                  <a:cubicBezTo>
                    <a:pt x="62611" y="1943862"/>
                    <a:pt x="0" y="1881251"/>
                    <a:pt x="0" y="1804035"/>
                  </a:cubicBezTo>
                  <a:close/>
                </a:path>
              </a:pathLst>
            </a:custGeom>
            <a:solidFill>
              <a:srgbClr val="D6F5EE"/>
            </a:solidFill>
            <a:ln w="9526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49709" y="5195592"/>
            <a:ext cx="4754166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Team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9709" y="5674966"/>
            <a:ext cx="4754166" cy="36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TwinThink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04537" y="4952409"/>
            <a:ext cx="5278784" cy="1457925"/>
            <a:chOff x="0" y="0"/>
            <a:chExt cx="7038378" cy="19439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38340" cy="1943862"/>
            </a:xfrm>
            <a:custGeom>
              <a:avLst/>
              <a:gdLst/>
              <a:ahLst/>
              <a:cxnLst/>
              <a:rect r="r" b="b" t="t" l="l"/>
              <a:pathLst>
                <a:path h="1943862" w="7038340">
                  <a:moveTo>
                    <a:pt x="0" y="139827"/>
                  </a:moveTo>
                  <a:cubicBezTo>
                    <a:pt x="0" y="62611"/>
                    <a:pt x="62611" y="0"/>
                    <a:pt x="139827" y="0"/>
                  </a:cubicBezTo>
                  <a:lnTo>
                    <a:pt x="6898513" y="0"/>
                  </a:lnTo>
                  <a:cubicBezTo>
                    <a:pt x="6975729" y="0"/>
                    <a:pt x="7038340" y="62611"/>
                    <a:pt x="7038340" y="139827"/>
                  </a:cubicBezTo>
                  <a:lnTo>
                    <a:pt x="7038340" y="1804035"/>
                  </a:lnTo>
                  <a:cubicBezTo>
                    <a:pt x="7038340" y="1881251"/>
                    <a:pt x="6975729" y="1943862"/>
                    <a:pt x="6898513" y="1943862"/>
                  </a:cubicBezTo>
                  <a:lnTo>
                    <a:pt x="139827" y="1943862"/>
                  </a:lnTo>
                  <a:cubicBezTo>
                    <a:pt x="62611" y="1943862"/>
                    <a:pt x="0" y="1881251"/>
                    <a:pt x="0" y="1804035"/>
                  </a:cubicBezTo>
                  <a:close/>
                </a:path>
              </a:pathLst>
            </a:custGeom>
            <a:solidFill>
              <a:srgbClr val="D6F5EE"/>
            </a:solidFill>
            <a:ln w="9526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6766770" y="5195592"/>
            <a:ext cx="4754318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College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66770" y="5674966"/>
            <a:ext cx="4754318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Panimalar Engineering College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21741" y="4952409"/>
            <a:ext cx="5278641" cy="1457925"/>
            <a:chOff x="0" y="0"/>
            <a:chExt cx="7038188" cy="1943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38213" cy="1943862"/>
            </a:xfrm>
            <a:custGeom>
              <a:avLst/>
              <a:gdLst/>
              <a:ahLst/>
              <a:cxnLst/>
              <a:rect r="r" b="b" t="t" l="l"/>
              <a:pathLst>
                <a:path h="1943862" w="7038213">
                  <a:moveTo>
                    <a:pt x="0" y="139827"/>
                  </a:moveTo>
                  <a:cubicBezTo>
                    <a:pt x="0" y="62611"/>
                    <a:pt x="62611" y="0"/>
                    <a:pt x="139827" y="0"/>
                  </a:cubicBezTo>
                  <a:lnTo>
                    <a:pt x="6898386" y="0"/>
                  </a:lnTo>
                  <a:cubicBezTo>
                    <a:pt x="6975602" y="0"/>
                    <a:pt x="7038213" y="62611"/>
                    <a:pt x="7038213" y="139827"/>
                  </a:cubicBezTo>
                  <a:lnTo>
                    <a:pt x="7038213" y="1804035"/>
                  </a:lnTo>
                  <a:cubicBezTo>
                    <a:pt x="7038213" y="1881251"/>
                    <a:pt x="6975602" y="1943862"/>
                    <a:pt x="6898386" y="1943862"/>
                  </a:cubicBezTo>
                  <a:lnTo>
                    <a:pt x="139827" y="1943862"/>
                  </a:lnTo>
                  <a:cubicBezTo>
                    <a:pt x="62611" y="1943862"/>
                    <a:pt x="0" y="1881251"/>
                    <a:pt x="0" y="1804035"/>
                  </a:cubicBezTo>
                  <a:close/>
                </a:path>
              </a:pathLst>
            </a:custGeom>
            <a:solidFill>
              <a:srgbClr val="D6F5EE"/>
            </a:solidFill>
            <a:ln w="9526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283973" y="5124450"/>
            <a:ext cx="4754166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Members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83973" y="5411472"/>
            <a:ext cx="4754166" cy="74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Dhinith Pragalyan M-CSE(III Yr)</a:t>
            </a:r>
          </a:p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Nibshan Jovin Joseph-CSE(III Yr)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4304" y="6887470"/>
            <a:ext cx="16845858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i="true">
                <a:solidFill>
                  <a:srgbClr val="333F7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"From buying intent to authorized action — autonomously, transparently, and responsibly."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238" y="6684616"/>
            <a:ext cx="28575" cy="955034"/>
            <a:chOff x="0" y="0"/>
            <a:chExt cx="38100" cy="12733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100" cy="1273429"/>
            </a:xfrm>
            <a:custGeom>
              <a:avLst/>
              <a:gdLst/>
              <a:ahLst/>
              <a:cxnLst/>
              <a:rect r="r" b="b" t="t" l="l"/>
              <a:pathLst>
                <a:path h="1273429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254379"/>
                  </a:lnTo>
                  <a:cubicBezTo>
                    <a:pt x="38100" y="1264920"/>
                    <a:pt x="29591" y="1273429"/>
                    <a:pt x="19050" y="1273429"/>
                  </a:cubicBezTo>
                  <a:cubicBezTo>
                    <a:pt x="8509" y="1273429"/>
                    <a:pt x="0" y="1264920"/>
                    <a:pt x="0" y="1254379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" y="548640"/>
            <a:ext cx="16276320" cy="694944"/>
            <a:chOff x="0" y="0"/>
            <a:chExt cx="21701760" cy="9265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01761" cy="926592"/>
            </a:xfrm>
            <a:custGeom>
              <a:avLst/>
              <a:gdLst/>
              <a:ahLst/>
              <a:cxnLst/>
              <a:rect r="r" b="b" t="t" l="l"/>
              <a:pathLst>
                <a:path h="926592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6360" r="0" b="-4063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70176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Procurement Is Still a Human Bottleneck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2416" y="1353312"/>
            <a:ext cx="16093440" cy="512064"/>
            <a:chOff x="0" y="0"/>
            <a:chExt cx="214579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5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45792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1"/>
                </a:lnSpc>
              </a:pPr>
              <a:r>
                <a:rPr lang="en-US" sz="1659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The traditional procurement workflow remains fragmented, opaque, and slow — even for routine purchases.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6480">
            <a:off x="1027157" y="2043493"/>
            <a:ext cx="16233677" cy="0"/>
          </a:xfrm>
          <a:prstGeom prst="line">
            <a:avLst/>
          </a:prstGeom>
          <a:ln cap="rnd" w="9525">
            <a:solidFill>
              <a:srgbClr val="45CBB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343787" y="2788539"/>
            <a:ext cx="531114" cy="531114"/>
            <a:chOff x="0" y="0"/>
            <a:chExt cx="708152" cy="7081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8152" cy="708152"/>
            </a:xfrm>
            <a:custGeom>
              <a:avLst/>
              <a:gdLst/>
              <a:ahLst/>
              <a:cxnLst/>
              <a:rect r="r" b="b" t="t" l="l"/>
              <a:pathLst>
                <a:path h="708152" w="708152">
                  <a:moveTo>
                    <a:pt x="0" y="354076"/>
                  </a:moveTo>
                  <a:cubicBezTo>
                    <a:pt x="0" y="158496"/>
                    <a:pt x="158496" y="0"/>
                    <a:pt x="354076" y="0"/>
                  </a:cubicBezTo>
                  <a:cubicBezTo>
                    <a:pt x="549656" y="0"/>
                    <a:pt x="708152" y="158496"/>
                    <a:pt x="708152" y="354076"/>
                  </a:cubicBezTo>
                  <a:cubicBezTo>
                    <a:pt x="708152" y="549656"/>
                    <a:pt x="549656" y="708152"/>
                    <a:pt x="354076" y="708152"/>
                  </a:cubicBezTo>
                  <a:cubicBezTo>
                    <a:pt x="158496" y="708152"/>
                    <a:pt x="0" y="549656"/>
                    <a:pt x="0" y="354076"/>
                  </a:cubicBezTo>
                  <a:close/>
                </a:path>
              </a:pathLst>
            </a:custGeom>
            <a:solidFill>
              <a:srgbClr val="20AB8F"/>
            </a:solidFill>
            <a:ln w="19050" cap="sq">
              <a:solidFill>
                <a:srgbClr val="20AB8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53312" y="2798064"/>
            <a:ext cx="512064" cy="512064"/>
            <a:chOff x="0" y="0"/>
            <a:chExt cx="682752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68275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11680" y="2743200"/>
            <a:ext cx="6217920" cy="457200"/>
            <a:chOff x="0" y="0"/>
            <a:chExt cx="829056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560" cy="609600"/>
            </a:xfrm>
            <a:custGeom>
              <a:avLst/>
              <a:gdLst/>
              <a:ahLst/>
              <a:cxnLst/>
              <a:rect r="r" b="b" t="t" l="l"/>
              <a:pathLst>
                <a:path h="60960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29056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Requirement Defined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11680" y="3218688"/>
            <a:ext cx="7040880" cy="585216"/>
            <a:chOff x="0" y="0"/>
            <a:chExt cx="938784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87840" cy="780288"/>
            </a:xfrm>
            <a:custGeom>
              <a:avLst/>
              <a:gdLst/>
              <a:ahLst/>
              <a:cxnLst/>
              <a:rect r="r" b="b" t="t" l="l"/>
              <a:pathLst>
                <a:path h="7802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429" r="0" b="-18442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93878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3"/>
                </a:lnSpc>
              </a:pPr>
              <a:r>
                <a:rPr lang="en-US" sz="1419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Stakeholder articulates need in natural language or informal brief.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43787" y="4215003"/>
            <a:ext cx="531114" cy="531114"/>
            <a:chOff x="0" y="0"/>
            <a:chExt cx="708152" cy="7081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8152" cy="708152"/>
            </a:xfrm>
            <a:custGeom>
              <a:avLst/>
              <a:gdLst/>
              <a:ahLst/>
              <a:cxnLst/>
              <a:rect r="r" b="b" t="t" l="l"/>
              <a:pathLst>
                <a:path h="708152" w="708152">
                  <a:moveTo>
                    <a:pt x="0" y="354076"/>
                  </a:moveTo>
                  <a:cubicBezTo>
                    <a:pt x="0" y="158496"/>
                    <a:pt x="158496" y="0"/>
                    <a:pt x="354076" y="0"/>
                  </a:cubicBezTo>
                  <a:cubicBezTo>
                    <a:pt x="549656" y="0"/>
                    <a:pt x="708152" y="158496"/>
                    <a:pt x="708152" y="354076"/>
                  </a:cubicBezTo>
                  <a:cubicBezTo>
                    <a:pt x="708152" y="549656"/>
                    <a:pt x="549656" y="708152"/>
                    <a:pt x="354076" y="708152"/>
                  </a:cubicBezTo>
                  <a:cubicBezTo>
                    <a:pt x="158496" y="708152"/>
                    <a:pt x="0" y="549656"/>
                    <a:pt x="0" y="354076"/>
                  </a:cubicBezTo>
                  <a:close/>
                </a:path>
              </a:pathLst>
            </a:custGeom>
            <a:solidFill>
              <a:srgbClr val="20AB8F"/>
            </a:solidFill>
            <a:ln w="19050" cap="sq">
              <a:solidFill>
                <a:srgbClr val="20AB8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53312" y="4224528"/>
            <a:ext cx="512064" cy="512064"/>
            <a:chOff x="0" y="0"/>
            <a:chExt cx="682752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8275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11680" y="4169664"/>
            <a:ext cx="6217920" cy="457200"/>
            <a:chOff x="0" y="0"/>
            <a:chExt cx="8290560" cy="60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90560" cy="609600"/>
            </a:xfrm>
            <a:custGeom>
              <a:avLst/>
              <a:gdLst/>
              <a:ahLst/>
              <a:cxnLst/>
              <a:rect r="r" b="b" t="t" l="l"/>
              <a:pathLst>
                <a:path h="60960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829056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Manual Vendor Discovery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011680" y="4645152"/>
            <a:ext cx="7040880" cy="585216"/>
            <a:chOff x="0" y="0"/>
            <a:chExt cx="9387840" cy="7802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87840" cy="780288"/>
            </a:xfrm>
            <a:custGeom>
              <a:avLst/>
              <a:gdLst/>
              <a:ahLst/>
              <a:cxnLst/>
              <a:rect r="r" b="b" t="t" l="l"/>
              <a:pathLst>
                <a:path h="7802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429" r="0" b="-18442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93878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3"/>
                </a:lnSpc>
              </a:pPr>
              <a:r>
                <a:rPr lang="en-US" sz="1419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Cross-source search with no systematic aggregation or normalization.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43787" y="5641467"/>
            <a:ext cx="531114" cy="531114"/>
            <a:chOff x="0" y="0"/>
            <a:chExt cx="708152" cy="7081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8152" cy="708152"/>
            </a:xfrm>
            <a:custGeom>
              <a:avLst/>
              <a:gdLst/>
              <a:ahLst/>
              <a:cxnLst/>
              <a:rect r="r" b="b" t="t" l="l"/>
              <a:pathLst>
                <a:path h="708152" w="708152">
                  <a:moveTo>
                    <a:pt x="0" y="354076"/>
                  </a:moveTo>
                  <a:cubicBezTo>
                    <a:pt x="0" y="158496"/>
                    <a:pt x="158496" y="0"/>
                    <a:pt x="354076" y="0"/>
                  </a:cubicBezTo>
                  <a:cubicBezTo>
                    <a:pt x="549656" y="0"/>
                    <a:pt x="708152" y="158496"/>
                    <a:pt x="708152" y="354076"/>
                  </a:cubicBezTo>
                  <a:cubicBezTo>
                    <a:pt x="708152" y="549656"/>
                    <a:pt x="549656" y="708152"/>
                    <a:pt x="354076" y="708152"/>
                  </a:cubicBezTo>
                  <a:cubicBezTo>
                    <a:pt x="158496" y="708152"/>
                    <a:pt x="0" y="549656"/>
                    <a:pt x="0" y="354076"/>
                  </a:cubicBezTo>
                  <a:close/>
                </a:path>
              </a:pathLst>
            </a:custGeom>
            <a:solidFill>
              <a:srgbClr val="20AB8F"/>
            </a:solidFill>
            <a:ln w="19050" cap="sq">
              <a:solidFill>
                <a:srgbClr val="20AB8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53312" y="5650992"/>
            <a:ext cx="512064" cy="512064"/>
            <a:chOff x="0" y="0"/>
            <a:chExt cx="682752" cy="6827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68275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011680" y="5596128"/>
            <a:ext cx="6217920" cy="457200"/>
            <a:chOff x="0" y="0"/>
            <a:chExt cx="829056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90560" cy="609600"/>
            </a:xfrm>
            <a:custGeom>
              <a:avLst/>
              <a:gdLst/>
              <a:ahLst/>
              <a:cxnLst/>
              <a:rect r="r" b="b" t="t" l="l"/>
              <a:pathLst>
                <a:path h="60960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829056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Time-Consuming Quote Comparison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011680" y="6071616"/>
            <a:ext cx="7040880" cy="585216"/>
            <a:chOff x="0" y="0"/>
            <a:chExt cx="9387840" cy="7802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387840" cy="780288"/>
            </a:xfrm>
            <a:custGeom>
              <a:avLst/>
              <a:gdLst/>
              <a:ahLst/>
              <a:cxnLst/>
              <a:rect r="r" b="b" t="t" l="l"/>
              <a:pathLst>
                <a:path h="7802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429" r="0" b="-18442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93878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3"/>
                </a:lnSpc>
              </a:pPr>
              <a:r>
                <a:rPr lang="en-US" sz="1419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Manual side-by-side evaluation with no structured scoring model.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43787" y="7067931"/>
            <a:ext cx="531114" cy="531114"/>
            <a:chOff x="0" y="0"/>
            <a:chExt cx="708152" cy="7081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8152" cy="708152"/>
            </a:xfrm>
            <a:custGeom>
              <a:avLst/>
              <a:gdLst/>
              <a:ahLst/>
              <a:cxnLst/>
              <a:rect r="r" b="b" t="t" l="l"/>
              <a:pathLst>
                <a:path h="708152" w="708152">
                  <a:moveTo>
                    <a:pt x="0" y="354076"/>
                  </a:moveTo>
                  <a:cubicBezTo>
                    <a:pt x="0" y="158496"/>
                    <a:pt x="158496" y="0"/>
                    <a:pt x="354076" y="0"/>
                  </a:cubicBezTo>
                  <a:cubicBezTo>
                    <a:pt x="549656" y="0"/>
                    <a:pt x="708152" y="158496"/>
                    <a:pt x="708152" y="354076"/>
                  </a:cubicBezTo>
                  <a:cubicBezTo>
                    <a:pt x="708152" y="549656"/>
                    <a:pt x="549656" y="708152"/>
                    <a:pt x="354076" y="708152"/>
                  </a:cubicBezTo>
                  <a:cubicBezTo>
                    <a:pt x="158496" y="708152"/>
                    <a:pt x="0" y="549656"/>
                    <a:pt x="0" y="354076"/>
                  </a:cubicBezTo>
                  <a:close/>
                </a:path>
              </a:pathLst>
            </a:custGeom>
            <a:solidFill>
              <a:srgbClr val="20AB8F"/>
            </a:solidFill>
            <a:ln w="19050" cap="sq">
              <a:solidFill>
                <a:srgbClr val="20AB8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3312" y="7077456"/>
            <a:ext cx="512064" cy="512064"/>
            <a:chOff x="0" y="0"/>
            <a:chExt cx="682752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68275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011680" y="7022592"/>
            <a:ext cx="6217920" cy="457200"/>
            <a:chOff x="0" y="0"/>
            <a:chExt cx="8290560" cy="609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290560" cy="609600"/>
            </a:xfrm>
            <a:custGeom>
              <a:avLst/>
              <a:gdLst/>
              <a:ahLst/>
              <a:cxnLst/>
              <a:rect r="r" b="b" t="t" l="l"/>
              <a:pathLst>
                <a:path h="60960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829056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Constraint Validation &amp; Conflicts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011680" y="7498080"/>
            <a:ext cx="7040880" cy="585216"/>
            <a:chOff x="0" y="0"/>
            <a:chExt cx="9387840" cy="780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387840" cy="780288"/>
            </a:xfrm>
            <a:custGeom>
              <a:avLst/>
              <a:gdLst/>
              <a:ahLst/>
              <a:cxnLst/>
              <a:rect r="r" b="b" t="t" l="l"/>
              <a:pathLst>
                <a:path h="7802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429" r="0" b="-18442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93878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3"/>
                </a:lnSpc>
              </a:pPr>
              <a:r>
                <a:rPr lang="en-US" sz="1419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Budget, spec, and delivery conflicts resolved informally — if at all.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27083" y="2788539"/>
            <a:ext cx="531114" cy="531114"/>
            <a:chOff x="0" y="0"/>
            <a:chExt cx="708152" cy="7081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08152" cy="708152"/>
            </a:xfrm>
            <a:custGeom>
              <a:avLst/>
              <a:gdLst/>
              <a:ahLst/>
              <a:cxnLst/>
              <a:rect r="r" b="b" t="t" l="l"/>
              <a:pathLst>
                <a:path h="708152" w="708152">
                  <a:moveTo>
                    <a:pt x="0" y="354076"/>
                  </a:moveTo>
                  <a:cubicBezTo>
                    <a:pt x="0" y="158496"/>
                    <a:pt x="158496" y="0"/>
                    <a:pt x="354076" y="0"/>
                  </a:cubicBezTo>
                  <a:cubicBezTo>
                    <a:pt x="549656" y="0"/>
                    <a:pt x="708152" y="158496"/>
                    <a:pt x="708152" y="354076"/>
                  </a:cubicBezTo>
                  <a:cubicBezTo>
                    <a:pt x="708152" y="549656"/>
                    <a:pt x="549656" y="708152"/>
                    <a:pt x="354076" y="708152"/>
                  </a:cubicBezTo>
                  <a:cubicBezTo>
                    <a:pt x="158496" y="708152"/>
                    <a:pt x="0" y="549656"/>
                    <a:pt x="0" y="354076"/>
                  </a:cubicBezTo>
                  <a:close/>
                </a:path>
              </a:pathLst>
            </a:custGeom>
            <a:solidFill>
              <a:srgbClr val="3478EB"/>
            </a:solidFill>
            <a:ln w="19050" cap="sq">
              <a:solidFill>
                <a:srgbClr val="3478EB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436608" y="2798064"/>
            <a:ext cx="512064" cy="512064"/>
            <a:chOff x="0" y="0"/>
            <a:chExt cx="682752" cy="682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68275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094976" y="2743200"/>
            <a:ext cx="6217920" cy="457200"/>
            <a:chOff x="0" y="0"/>
            <a:chExt cx="8290560" cy="6096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290560" cy="609600"/>
            </a:xfrm>
            <a:custGeom>
              <a:avLst/>
              <a:gdLst/>
              <a:ahLst/>
              <a:cxnLst/>
              <a:rect r="r" b="b" t="t" l="l"/>
              <a:pathLst>
                <a:path h="60960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829056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Budget &amp; Authorization Checks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094976" y="3218688"/>
            <a:ext cx="7040880" cy="585216"/>
            <a:chOff x="0" y="0"/>
            <a:chExt cx="9387840" cy="7802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387840" cy="780288"/>
            </a:xfrm>
            <a:custGeom>
              <a:avLst/>
              <a:gdLst/>
              <a:ahLst/>
              <a:cxnLst/>
              <a:rect r="r" b="b" t="t" l="l"/>
              <a:pathLst>
                <a:path h="7802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429" r="0" b="-18442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93878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3"/>
                </a:lnSpc>
              </a:pPr>
              <a:r>
                <a:rPr lang="en-US" sz="1419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Manual policy lookups with no enforcement layer; easy to bypass.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427083" y="4215003"/>
            <a:ext cx="531114" cy="531114"/>
            <a:chOff x="0" y="0"/>
            <a:chExt cx="708152" cy="7081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08152" cy="708152"/>
            </a:xfrm>
            <a:custGeom>
              <a:avLst/>
              <a:gdLst/>
              <a:ahLst/>
              <a:cxnLst/>
              <a:rect r="r" b="b" t="t" l="l"/>
              <a:pathLst>
                <a:path h="708152" w="708152">
                  <a:moveTo>
                    <a:pt x="0" y="354076"/>
                  </a:moveTo>
                  <a:cubicBezTo>
                    <a:pt x="0" y="158496"/>
                    <a:pt x="158496" y="0"/>
                    <a:pt x="354076" y="0"/>
                  </a:cubicBezTo>
                  <a:cubicBezTo>
                    <a:pt x="549656" y="0"/>
                    <a:pt x="708152" y="158496"/>
                    <a:pt x="708152" y="354076"/>
                  </a:cubicBezTo>
                  <a:cubicBezTo>
                    <a:pt x="708152" y="549656"/>
                    <a:pt x="549656" y="708152"/>
                    <a:pt x="354076" y="708152"/>
                  </a:cubicBezTo>
                  <a:cubicBezTo>
                    <a:pt x="158496" y="708152"/>
                    <a:pt x="0" y="549656"/>
                    <a:pt x="0" y="354076"/>
                  </a:cubicBezTo>
                  <a:close/>
                </a:path>
              </a:pathLst>
            </a:custGeom>
            <a:solidFill>
              <a:srgbClr val="3478EB"/>
            </a:solidFill>
            <a:ln w="19050" cap="sq">
              <a:solidFill>
                <a:srgbClr val="3478EB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436608" y="4224528"/>
            <a:ext cx="512064" cy="512064"/>
            <a:chOff x="0" y="0"/>
            <a:chExt cx="682752" cy="68275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68275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094976" y="4169664"/>
            <a:ext cx="6217920" cy="457200"/>
            <a:chOff x="0" y="0"/>
            <a:chExt cx="8290560" cy="609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290560" cy="609600"/>
            </a:xfrm>
            <a:custGeom>
              <a:avLst/>
              <a:gdLst/>
              <a:ahLst/>
              <a:cxnLst/>
              <a:rect r="r" b="b" t="t" l="l"/>
              <a:pathLst>
                <a:path h="60960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29056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Approval Bottlenecks &amp; Delays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094976" y="4645152"/>
            <a:ext cx="7040880" cy="585216"/>
            <a:chOff x="0" y="0"/>
            <a:chExt cx="9387840" cy="7802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387840" cy="780288"/>
            </a:xfrm>
            <a:custGeom>
              <a:avLst/>
              <a:gdLst/>
              <a:ahLst/>
              <a:cxnLst/>
              <a:rect r="r" b="b" t="t" l="l"/>
              <a:pathLst>
                <a:path h="7802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429" r="0" b="-18442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93878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3"/>
                </a:lnSpc>
              </a:pPr>
              <a:r>
                <a:rPr lang="en-US" sz="1419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Sequential sign-offs add days of latency to routine decisions.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427083" y="5641467"/>
            <a:ext cx="531114" cy="531114"/>
            <a:chOff x="0" y="0"/>
            <a:chExt cx="708152" cy="7081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08152" cy="708152"/>
            </a:xfrm>
            <a:custGeom>
              <a:avLst/>
              <a:gdLst/>
              <a:ahLst/>
              <a:cxnLst/>
              <a:rect r="r" b="b" t="t" l="l"/>
              <a:pathLst>
                <a:path h="708152" w="708152">
                  <a:moveTo>
                    <a:pt x="0" y="354076"/>
                  </a:moveTo>
                  <a:cubicBezTo>
                    <a:pt x="0" y="158496"/>
                    <a:pt x="158496" y="0"/>
                    <a:pt x="354076" y="0"/>
                  </a:cubicBezTo>
                  <a:cubicBezTo>
                    <a:pt x="549656" y="0"/>
                    <a:pt x="708152" y="158496"/>
                    <a:pt x="708152" y="354076"/>
                  </a:cubicBezTo>
                  <a:cubicBezTo>
                    <a:pt x="708152" y="549656"/>
                    <a:pt x="549656" y="708152"/>
                    <a:pt x="354076" y="708152"/>
                  </a:cubicBezTo>
                  <a:cubicBezTo>
                    <a:pt x="158496" y="708152"/>
                    <a:pt x="0" y="549656"/>
                    <a:pt x="0" y="354076"/>
                  </a:cubicBezTo>
                  <a:close/>
                </a:path>
              </a:pathLst>
            </a:custGeom>
            <a:solidFill>
              <a:srgbClr val="3478EB"/>
            </a:solidFill>
            <a:ln w="19050" cap="sq">
              <a:solidFill>
                <a:srgbClr val="3478EB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9436608" y="5650992"/>
            <a:ext cx="512064" cy="512064"/>
            <a:chOff x="0" y="0"/>
            <a:chExt cx="682752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68275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094976" y="5596128"/>
            <a:ext cx="6217920" cy="457200"/>
            <a:chOff x="0" y="0"/>
            <a:chExt cx="8290560" cy="609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290560" cy="609600"/>
            </a:xfrm>
            <a:custGeom>
              <a:avLst/>
              <a:gdLst/>
              <a:ahLst/>
              <a:cxnLst/>
              <a:rect r="r" b="b" t="t" l="l"/>
              <a:pathLst>
                <a:path h="60960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829056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Order Placement &amp; Documentation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094976" y="6071616"/>
            <a:ext cx="7040880" cy="585216"/>
            <a:chOff x="0" y="0"/>
            <a:chExt cx="9387840" cy="78028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387840" cy="780288"/>
            </a:xfrm>
            <a:custGeom>
              <a:avLst/>
              <a:gdLst/>
              <a:ahLst/>
              <a:cxnLst/>
              <a:rect r="r" b="b" t="t" l="l"/>
              <a:pathLst>
                <a:path h="7802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429" r="0" b="-18442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93878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3"/>
                </a:lnSpc>
              </a:pPr>
              <a:r>
                <a:rPr lang="en-US" sz="1419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Manual data entry into systems with fragmented record-keeping.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427083" y="7067931"/>
            <a:ext cx="531114" cy="531114"/>
            <a:chOff x="0" y="0"/>
            <a:chExt cx="708152" cy="7081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08152" cy="708152"/>
            </a:xfrm>
            <a:custGeom>
              <a:avLst/>
              <a:gdLst/>
              <a:ahLst/>
              <a:cxnLst/>
              <a:rect r="r" b="b" t="t" l="l"/>
              <a:pathLst>
                <a:path h="708152" w="708152">
                  <a:moveTo>
                    <a:pt x="0" y="354076"/>
                  </a:moveTo>
                  <a:cubicBezTo>
                    <a:pt x="0" y="158496"/>
                    <a:pt x="158496" y="0"/>
                    <a:pt x="354076" y="0"/>
                  </a:cubicBezTo>
                  <a:cubicBezTo>
                    <a:pt x="549656" y="0"/>
                    <a:pt x="708152" y="158496"/>
                    <a:pt x="708152" y="354076"/>
                  </a:cubicBezTo>
                  <a:cubicBezTo>
                    <a:pt x="708152" y="549656"/>
                    <a:pt x="549656" y="708152"/>
                    <a:pt x="354076" y="708152"/>
                  </a:cubicBezTo>
                  <a:cubicBezTo>
                    <a:pt x="158496" y="708152"/>
                    <a:pt x="0" y="549656"/>
                    <a:pt x="0" y="354076"/>
                  </a:cubicBezTo>
                  <a:close/>
                </a:path>
              </a:pathLst>
            </a:custGeom>
            <a:solidFill>
              <a:srgbClr val="3478EB"/>
            </a:solidFill>
            <a:ln w="19050" cap="sq">
              <a:solidFill>
                <a:srgbClr val="3478EB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9436608" y="7077456"/>
            <a:ext cx="512064" cy="512064"/>
            <a:chOff x="0" y="0"/>
            <a:chExt cx="682752" cy="68275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68275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094976" y="7022592"/>
            <a:ext cx="6217920" cy="457200"/>
            <a:chOff x="0" y="0"/>
            <a:chExt cx="8290560" cy="6096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290560" cy="609600"/>
            </a:xfrm>
            <a:custGeom>
              <a:avLst/>
              <a:gdLst/>
              <a:ahLst/>
              <a:cxnLst/>
              <a:rect r="r" b="b" t="t" l="l"/>
              <a:pathLst>
                <a:path h="60960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829056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Fragmented Decision Traceability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094976" y="7498080"/>
            <a:ext cx="7040880" cy="585216"/>
            <a:chOff x="0" y="0"/>
            <a:chExt cx="9387840" cy="78028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387840" cy="780288"/>
            </a:xfrm>
            <a:custGeom>
              <a:avLst/>
              <a:gdLst/>
              <a:ahLst/>
              <a:cxnLst/>
              <a:rect r="r" b="b" t="t" l="l"/>
              <a:pathLst>
                <a:path h="7802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429" r="0" b="-184429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93878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3"/>
                </a:lnSpc>
              </a:pPr>
              <a:r>
                <a:rPr lang="en-US" sz="1419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No unified audit trail; decisions driven by availability, not optimization.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21159" y="8436359"/>
            <a:ext cx="16228562" cy="903227"/>
            <a:chOff x="0" y="0"/>
            <a:chExt cx="21638082" cy="120430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1638006" cy="1204214"/>
            </a:xfrm>
            <a:custGeom>
              <a:avLst/>
              <a:gdLst/>
              <a:ahLst/>
              <a:cxnLst/>
              <a:rect r="r" b="b" t="t" l="l"/>
              <a:pathLst>
                <a:path h="1204214" w="21638006">
                  <a:moveTo>
                    <a:pt x="0" y="200660"/>
                  </a:moveTo>
                  <a:cubicBezTo>
                    <a:pt x="0" y="89916"/>
                    <a:pt x="89916" y="0"/>
                    <a:pt x="200660" y="0"/>
                  </a:cubicBezTo>
                  <a:lnTo>
                    <a:pt x="21437346" y="0"/>
                  </a:lnTo>
                  <a:cubicBezTo>
                    <a:pt x="21548217" y="0"/>
                    <a:pt x="21638006" y="89916"/>
                    <a:pt x="21638006" y="200660"/>
                  </a:cubicBezTo>
                  <a:lnTo>
                    <a:pt x="21638006" y="1003554"/>
                  </a:lnTo>
                  <a:cubicBezTo>
                    <a:pt x="21638006" y="1114425"/>
                    <a:pt x="21548089" y="1204214"/>
                    <a:pt x="21437346" y="1204214"/>
                  </a:cubicBezTo>
                  <a:lnTo>
                    <a:pt x="200660" y="1204214"/>
                  </a:lnTo>
                  <a:cubicBezTo>
                    <a:pt x="89916" y="1204341"/>
                    <a:pt x="0" y="1114425"/>
                    <a:pt x="0" y="1003554"/>
                  </a:cubicBezTo>
                  <a:close/>
                </a:path>
              </a:pathLst>
            </a:custGeom>
            <a:solidFill>
              <a:srgbClr val="E5F8F3"/>
            </a:solidFill>
            <a:ln w="25400" cap="sq">
              <a:solidFill>
                <a:srgbClr val="20AB8F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499616" y="8686800"/>
            <a:ext cx="15471648" cy="329184"/>
            <a:chOff x="0" y="0"/>
            <a:chExt cx="20628864" cy="43891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0628865" cy="438912"/>
            </a:xfrm>
            <a:custGeom>
              <a:avLst/>
              <a:gdLst/>
              <a:ahLst/>
              <a:cxnLst/>
              <a:rect r="r" b="b" t="t" l="l"/>
              <a:pathLst>
                <a:path h="438912" w="20628865">
                  <a:moveTo>
                    <a:pt x="0" y="0"/>
                  </a:moveTo>
                  <a:lnTo>
                    <a:pt x="20628865" y="0"/>
                  </a:lnTo>
                  <a:lnTo>
                    <a:pt x="20628865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5796" r="0" b="-865796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20628864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  ·  Days to weeks for routine purchases • no clear audit trail • decisions driven by availability, not optimization.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14670"/>
            <a:ext cx="16303523" cy="67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0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The Real Problem Isn't Finding a Product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687268"/>
            <a:ext cx="17217923" cy="33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60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 is making the right purchasing decision under constraints.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4306" y="2217096"/>
            <a:ext cx="8197005" cy="1868243"/>
            <a:chOff x="0" y="0"/>
            <a:chExt cx="10929341" cy="2490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29366" cy="2490978"/>
            </a:xfrm>
            <a:custGeom>
              <a:avLst/>
              <a:gdLst/>
              <a:ahLst/>
              <a:cxnLst/>
              <a:rect r="r" b="b" t="t" l="l"/>
              <a:pathLst>
                <a:path h="2490978" w="10929366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10732135" y="0"/>
                  </a:lnTo>
                  <a:cubicBezTo>
                    <a:pt x="10841101" y="0"/>
                    <a:pt x="10929366" y="88265"/>
                    <a:pt x="10929366" y="197231"/>
                  </a:cubicBezTo>
                  <a:lnTo>
                    <a:pt x="10929366" y="2293747"/>
                  </a:lnTo>
                  <a:cubicBezTo>
                    <a:pt x="10929366" y="2402713"/>
                    <a:pt x="10841101" y="2490978"/>
                    <a:pt x="10732135" y="2490978"/>
                  </a:cubicBezTo>
                  <a:lnTo>
                    <a:pt x="197231" y="2490978"/>
                  </a:lnTo>
                  <a:cubicBezTo>
                    <a:pt x="88265" y="2490978"/>
                    <a:pt x="0" y="2402713"/>
                    <a:pt x="0" y="2293747"/>
                  </a:cubicBezTo>
                  <a:close/>
                </a:path>
              </a:pathLst>
            </a:custGeom>
            <a:solidFill>
              <a:srgbClr val="4F8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9684" y="2377678"/>
            <a:ext cx="7786240" cy="33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Traditional System Asks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9684" y="2840241"/>
            <a:ext cx="7786240" cy="109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"Which products match the specs?"</a:t>
            </a:r>
          </a:p>
          <a:p>
            <a:pPr algn="l">
              <a:lnSpc>
                <a:spcPts val="2342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Product discovery only. No constraint enforcement, no risk assessment, no policy layer, no justification.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4156" y="2377678"/>
            <a:ext cx="7901140" cy="33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20C7B5"/>
                </a:solidFill>
                <a:latin typeface="Arimo Bold"/>
                <a:ea typeface="Arimo Bold"/>
                <a:cs typeface="Arimo Bold"/>
                <a:sym typeface="Arimo Bold"/>
              </a:rPr>
              <a:t>ProcuraAI Asks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04156" y="2840241"/>
            <a:ext cx="7901140" cy="109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6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"Which purchase best satisfies requirements, minimizes risk, stays within authorization, and </a:t>
            </a:r>
            <a:r>
              <a:rPr lang="en-US" sz="160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 be justified</a:t>
            </a:r>
            <a:r>
              <a:rPr lang="en-US" sz="16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?"</a:t>
            </a:r>
          </a:p>
          <a:p>
            <a:pPr algn="l">
              <a:lnSpc>
                <a:spcPts val="2342"/>
              </a:lnSpc>
            </a:pPr>
            <a:r>
              <a:rPr lang="en-US" sz="16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Decision intelligence across all dimensions — simultaneously and autonomously.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2238" y="4276725"/>
            <a:ext cx="16303523" cy="1026471"/>
            <a:chOff x="0" y="0"/>
            <a:chExt cx="21738031" cy="13686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38082" cy="1368679"/>
            </a:xfrm>
            <a:custGeom>
              <a:avLst/>
              <a:gdLst/>
              <a:ahLst/>
              <a:cxnLst/>
              <a:rect r="r" b="b" t="t" l="l"/>
              <a:pathLst>
                <a:path h="1368679" w="21738082">
                  <a:moveTo>
                    <a:pt x="0" y="115062"/>
                  </a:moveTo>
                  <a:cubicBezTo>
                    <a:pt x="0" y="51562"/>
                    <a:pt x="51562" y="0"/>
                    <a:pt x="115062" y="0"/>
                  </a:cubicBezTo>
                  <a:lnTo>
                    <a:pt x="21623020" y="0"/>
                  </a:lnTo>
                  <a:cubicBezTo>
                    <a:pt x="21686520" y="0"/>
                    <a:pt x="21738082" y="51562"/>
                    <a:pt x="21738082" y="115062"/>
                  </a:cubicBezTo>
                  <a:lnTo>
                    <a:pt x="21738082" y="1253617"/>
                  </a:lnTo>
                  <a:cubicBezTo>
                    <a:pt x="21738082" y="1317117"/>
                    <a:pt x="21686520" y="1368679"/>
                    <a:pt x="21623020" y="1368679"/>
                  </a:cubicBezTo>
                  <a:lnTo>
                    <a:pt x="115062" y="1368679"/>
                  </a:lnTo>
                  <a:cubicBezTo>
                    <a:pt x="51562" y="1368679"/>
                    <a:pt x="0" y="1317117"/>
                    <a:pt x="0" y="1253617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97616" y="4518422"/>
            <a:ext cx="256727" cy="205378"/>
            <a:chOff x="0" y="0"/>
            <a:chExt cx="342303" cy="273837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342265" cy="273812"/>
            </a:xfrm>
            <a:custGeom>
              <a:avLst/>
              <a:gdLst/>
              <a:ahLst/>
              <a:cxnLst/>
              <a:rect r="r" b="b" t="t" l="l"/>
              <a:pathLst>
                <a:path h="273812" w="342265">
                  <a:moveTo>
                    <a:pt x="0" y="0"/>
                  </a:moveTo>
                  <a:lnTo>
                    <a:pt x="342265" y="0"/>
                  </a:lnTo>
                  <a:lnTo>
                    <a:pt x="342265" y="273812"/>
                  </a:lnTo>
                  <a:lnTo>
                    <a:pt x="0" y="273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27" r="-11" b="-936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59731" y="4460081"/>
            <a:ext cx="15430652" cy="638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Example Brief: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"Buy 10 laptops under ₹45,000 each, with ≥16GB RAM, ≥512GB SSD and delivery within 7 days." — This single sentence encodes hard constraints, soft preferences, and budget policy simultaneously.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7476" y="5489819"/>
            <a:ext cx="8076162" cy="1949053"/>
            <a:chOff x="0" y="0"/>
            <a:chExt cx="10768216" cy="25987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68202" cy="2598674"/>
            </a:xfrm>
            <a:custGeom>
              <a:avLst/>
              <a:gdLst/>
              <a:ahLst/>
              <a:cxnLst/>
              <a:rect r="r" b="b" t="t" l="l"/>
              <a:pathLst>
                <a:path h="2598674" w="10768202">
                  <a:moveTo>
                    <a:pt x="0" y="115570"/>
                  </a:moveTo>
                  <a:cubicBezTo>
                    <a:pt x="0" y="51816"/>
                    <a:pt x="51816" y="0"/>
                    <a:pt x="115570" y="0"/>
                  </a:cubicBezTo>
                  <a:lnTo>
                    <a:pt x="10652633" y="0"/>
                  </a:lnTo>
                  <a:cubicBezTo>
                    <a:pt x="10716514" y="0"/>
                    <a:pt x="10768202" y="51816"/>
                    <a:pt x="10768202" y="115570"/>
                  </a:cubicBezTo>
                  <a:lnTo>
                    <a:pt x="10768202" y="2483104"/>
                  </a:lnTo>
                  <a:cubicBezTo>
                    <a:pt x="10768202" y="2546985"/>
                    <a:pt x="10716387" y="2598674"/>
                    <a:pt x="10652633" y="2598674"/>
                  </a:cubicBezTo>
                  <a:lnTo>
                    <a:pt x="115570" y="2598674"/>
                  </a:lnTo>
                  <a:cubicBezTo>
                    <a:pt x="51689" y="2598674"/>
                    <a:pt x="0" y="2546858"/>
                    <a:pt x="0" y="2483104"/>
                  </a:cubicBezTo>
                  <a:close/>
                </a:path>
              </a:pathLst>
            </a:custGeom>
            <a:solidFill>
              <a:srgbClr val="D6F5EE"/>
            </a:solidFill>
            <a:ln w="9526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07141" y="5709495"/>
            <a:ext cx="616296" cy="616296"/>
            <a:chOff x="0" y="0"/>
            <a:chExt cx="821728" cy="8217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1690" cy="821690"/>
            </a:xfrm>
            <a:custGeom>
              <a:avLst/>
              <a:gdLst/>
              <a:ahLst/>
              <a:cxnLst/>
              <a:rect r="r" b="b" t="t" l="l"/>
              <a:pathLst>
                <a:path h="821690" w="821690">
                  <a:moveTo>
                    <a:pt x="0" y="410845"/>
                  </a:moveTo>
                  <a:cubicBezTo>
                    <a:pt x="0" y="183896"/>
                    <a:pt x="183896" y="0"/>
                    <a:pt x="410845" y="0"/>
                  </a:cubicBezTo>
                  <a:cubicBezTo>
                    <a:pt x="637794" y="0"/>
                    <a:pt x="821690" y="183896"/>
                    <a:pt x="821690" y="410845"/>
                  </a:cubicBezTo>
                  <a:cubicBezTo>
                    <a:pt x="821690" y="637794"/>
                    <a:pt x="637794" y="821690"/>
                    <a:pt x="410845" y="821690"/>
                  </a:cubicBezTo>
                  <a:cubicBezTo>
                    <a:pt x="183896" y="821690"/>
                    <a:pt x="0" y="637794"/>
                    <a:pt x="0" y="410845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Freeform 23" id="23" descr="preencoded.png"/>
          <p:cNvSpPr/>
          <p:nvPr/>
        </p:nvSpPr>
        <p:spPr>
          <a:xfrm flipH="false" flipV="false" rot="0">
            <a:off x="1376658" y="5879011"/>
            <a:ext cx="277263" cy="277263"/>
          </a:xfrm>
          <a:custGeom>
            <a:avLst/>
            <a:gdLst/>
            <a:ahLst/>
            <a:cxnLst/>
            <a:rect r="r" b="b" t="t" l="l"/>
            <a:pathLst>
              <a:path h="277263" w="277263">
                <a:moveTo>
                  <a:pt x="0" y="0"/>
                </a:moveTo>
                <a:lnTo>
                  <a:pt x="277263" y="0"/>
                </a:lnTo>
                <a:lnTo>
                  <a:pt x="277263" y="277263"/>
                </a:lnTo>
                <a:lnTo>
                  <a:pt x="0" y="2772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000" r="0" b="-1000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07141" y="6486373"/>
            <a:ext cx="7636821" cy="33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UNDERSTAND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7141" y="6880774"/>
            <a:ext cx="7636821" cy="33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6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Extract intent and constraints from natural language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224220" y="5489819"/>
            <a:ext cx="8076305" cy="1949053"/>
            <a:chOff x="0" y="0"/>
            <a:chExt cx="10768406" cy="25987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68330" cy="2598674"/>
            </a:xfrm>
            <a:custGeom>
              <a:avLst/>
              <a:gdLst/>
              <a:ahLst/>
              <a:cxnLst/>
              <a:rect r="r" b="b" t="t" l="l"/>
              <a:pathLst>
                <a:path h="2598674" w="10768330">
                  <a:moveTo>
                    <a:pt x="0" y="115570"/>
                  </a:moveTo>
                  <a:cubicBezTo>
                    <a:pt x="0" y="51816"/>
                    <a:pt x="51816" y="0"/>
                    <a:pt x="115570" y="0"/>
                  </a:cubicBezTo>
                  <a:lnTo>
                    <a:pt x="10652760" y="0"/>
                  </a:lnTo>
                  <a:cubicBezTo>
                    <a:pt x="10716641" y="0"/>
                    <a:pt x="10768330" y="51816"/>
                    <a:pt x="10768330" y="115570"/>
                  </a:cubicBezTo>
                  <a:lnTo>
                    <a:pt x="10768330" y="2483104"/>
                  </a:lnTo>
                  <a:cubicBezTo>
                    <a:pt x="10768330" y="2546985"/>
                    <a:pt x="10716514" y="2598674"/>
                    <a:pt x="10652760" y="2598674"/>
                  </a:cubicBezTo>
                  <a:lnTo>
                    <a:pt x="115570" y="2598674"/>
                  </a:lnTo>
                  <a:cubicBezTo>
                    <a:pt x="51689" y="2598674"/>
                    <a:pt x="0" y="2546858"/>
                    <a:pt x="0" y="2483104"/>
                  </a:cubicBezTo>
                  <a:close/>
                </a:path>
              </a:pathLst>
            </a:custGeom>
            <a:solidFill>
              <a:srgbClr val="D6F5EE"/>
            </a:solidFill>
            <a:ln w="9526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443885" y="5709495"/>
            <a:ext cx="616296" cy="616296"/>
            <a:chOff x="0" y="0"/>
            <a:chExt cx="821728" cy="8217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1690" cy="821690"/>
            </a:xfrm>
            <a:custGeom>
              <a:avLst/>
              <a:gdLst/>
              <a:ahLst/>
              <a:cxnLst/>
              <a:rect r="r" b="b" t="t" l="l"/>
              <a:pathLst>
                <a:path h="821690" w="821690">
                  <a:moveTo>
                    <a:pt x="0" y="410845"/>
                  </a:moveTo>
                  <a:cubicBezTo>
                    <a:pt x="0" y="183896"/>
                    <a:pt x="183896" y="0"/>
                    <a:pt x="410845" y="0"/>
                  </a:cubicBezTo>
                  <a:cubicBezTo>
                    <a:pt x="637794" y="0"/>
                    <a:pt x="821690" y="183896"/>
                    <a:pt x="821690" y="410845"/>
                  </a:cubicBezTo>
                  <a:cubicBezTo>
                    <a:pt x="821690" y="637794"/>
                    <a:pt x="637794" y="821690"/>
                    <a:pt x="410845" y="821690"/>
                  </a:cubicBezTo>
                  <a:cubicBezTo>
                    <a:pt x="183896" y="821690"/>
                    <a:pt x="0" y="637794"/>
                    <a:pt x="0" y="410845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Freeform 30" id="30" descr="preencoded.png"/>
          <p:cNvSpPr/>
          <p:nvPr/>
        </p:nvSpPr>
        <p:spPr>
          <a:xfrm flipH="false" flipV="false" rot="0">
            <a:off x="9613402" y="5879011"/>
            <a:ext cx="277263" cy="277263"/>
          </a:xfrm>
          <a:custGeom>
            <a:avLst/>
            <a:gdLst/>
            <a:ahLst/>
            <a:cxnLst/>
            <a:rect r="r" b="b" t="t" l="l"/>
            <a:pathLst>
              <a:path h="277263" w="277263">
                <a:moveTo>
                  <a:pt x="0" y="0"/>
                </a:moveTo>
                <a:lnTo>
                  <a:pt x="277263" y="0"/>
                </a:lnTo>
                <a:lnTo>
                  <a:pt x="277263" y="277263"/>
                </a:lnTo>
                <a:lnTo>
                  <a:pt x="0" y="2772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000" t="0" r="-1000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9443885" y="6486373"/>
            <a:ext cx="7636964" cy="33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REASON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43885" y="6880774"/>
            <a:ext cx="7636964" cy="33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6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Evaluate alternatives using multi-dimensional criteria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87476" y="7599464"/>
            <a:ext cx="8076162" cy="1949053"/>
            <a:chOff x="0" y="0"/>
            <a:chExt cx="10768216" cy="259873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68202" cy="2598674"/>
            </a:xfrm>
            <a:custGeom>
              <a:avLst/>
              <a:gdLst/>
              <a:ahLst/>
              <a:cxnLst/>
              <a:rect r="r" b="b" t="t" l="l"/>
              <a:pathLst>
                <a:path h="2598674" w="10768202">
                  <a:moveTo>
                    <a:pt x="0" y="115570"/>
                  </a:moveTo>
                  <a:cubicBezTo>
                    <a:pt x="0" y="51816"/>
                    <a:pt x="51816" y="0"/>
                    <a:pt x="115570" y="0"/>
                  </a:cubicBezTo>
                  <a:lnTo>
                    <a:pt x="10652633" y="0"/>
                  </a:lnTo>
                  <a:cubicBezTo>
                    <a:pt x="10716514" y="0"/>
                    <a:pt x="10768202" y="51816"/>
                    <a:pt x="10768202" y="115570"/>
                  </a:cubicBezTo>
                  <a:lnTo>
                    <a:pt x="10768202" y="2483104"/>
                  </a:lnTo>
                  <a:cubicBezTo>
                    <a:pt x="10768202" y="2546985"/>
                    <a:pt x="10716387" y="2598674"/>
                    <a:pt x="10652633" y="2598674"/>
                  </a:cubicBezTo>
                  <a:lnTo>
                    <a:pt x="115570" y="2598674"/>
                  </a:lnTo>
                  <a:cubicBezTo>
                    <a:pt x="51689" y="2598674"/>
                    <a:pt x="0" y="2546858"/>
                    <a:pt x="0" y="2483104"/>
                  </a:cubicBezTo>
                  <a:close/>
                </a:path>
              </a:pathLst>
            </a:custGeom>
            <a:solidFill>
              <a:srgbClr val="D6F5EE"/>
            </a:solidFill>
            <a:ln w="9526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07141" y="7819130"/>
            <a:ext cx="616296" cy="616296"/>
            <a:chOff x="0" y="0"/>
            <a:chExt cx="821728" cy="8217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1690" cy="821690"/>
            </a:xfrm>
            <a:custGeom>
              <a:avLst/>
              <a:gdLst/>
              <a:ahLst/>
              <a:cxnLst/>
              <a:rect r="r" b="b" t="t" l="l"/>
              <a:pathLst>
                <a:path h="821690" w="821690">
                  <a:moveTo>
                    <a:pt x="0" y="410845"/>
                  </a:moveTo>
                  <a:cubicBezTo>
                    <a:pt x="0" y="183896"/>
                    <a:pt x="183896" y="0"/>
                    <a:pt x="410845" y="0"/>
                  </a:cubicBezTo>
                  <a:cubicBezTo>
                    <a:pt x="637794" y="0"/>
                    <a:pt x="821690" y="183896"/>
                    <a:pt x="821690" y="410845"/>
                  </a:cubicBezTo>
                  <a:cubicBezTo>
                    <a:pt x="821690" y="637794"/>
                    <a:pt x="637794" y="821690"/>
                    <a:pt x="410845" y="821690"/>
                  </a:cubicBezTo>
                  <a:cubicBezTo>
                    <a:pt x="183896" y="821690"/>
                    <a:pt x="0" y="637794"/>
                    <a:pt x="0" y="410845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Freeform 37" id="37" descr="preencoded.png"/>
          <p:cNvSpPr/>
          <p:nvPr/>
        </p:nvSpPr>
        <p:spPr>
          <a:xfrm flipH="false" flipV="false" rot="0">
            <a:off x="1376658" y="7988646"/>
            <a:ext cx="277263" cy="277263"/>
          </a:xfrm>
          <a:custGeom>
            <a:avLst/>
            <a:gdLst/>
            <a:ahLst/>
            <a:cxnLst/>
            <a:rect r="r" b="b" t="t" l="l"/>
            <a:pathLst>
              <a:path h="277263" w="277263">
                <a:moveTo>
                  <a:pt x="0" y="0"/>
                </a:moveTo>
                <a:lnTo>
                  <a:pt x="277263" y="0"/>
                </a:lnTo>
                <a:lnTo>
                  <a:pt x="277263" y="277263"/>
                </a:lnTo>
                <a:lnTo>
                  <a:pt x="0" y="2772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8334" r="0" b="-8334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207141" y="8596017"/>
            <a:ext cx="7636821" cy="33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CONTROL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07141" y="8990409"/>
            <a:ext cx="7636821" cy="33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6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Enforce authorization boundaries and policy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224220" y="7599464"/>
            <a:ext cx="8076305" cy="1949053"/>
            <a:chOff x="0" y="0"/>
            <a:chExt cx="10768406" cy="259873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68330" cy="2598674"/>
            </a:xfrm>
            <a:custGeom>
              <a:avLst/>
              <a:gdLst/>
              <a:ahLst/>
              <a:cxnLst/>
              <a:rect r="r" b="b" t="t" l="l"/>
              <a:pathLst>
                <a:path h="2598674" w="10768330">
                  <a:moveTo>
                    <a:pt x="0" y="115570"/>
                  </a:moveTo>
                  <a:cubicBezTo>
                    <a:pt x="0" y="51816"/>
                    <a:pt x="51816" y="0"/>
                    <a:pt x="115570" y="0"/>
                  </a:cubicBezTo>
                  <a:lnTo>
                    <a:pt x="10652760" y="0"/>
                  </a:lnTo>
                  <a:cubicBezTo>
                    <a:pt x="10716641" y="0"/>
                    <a:pt x="10768330" y="51816"/>
                    <a:pt x="10768330" y="115570"/>
                  </a:cubicBezTo>
                  <a:lnTo>
                    <a:pt x="10768330" y="2483104"/>
                  </a:lnTo>
                  <a:cubicBezTo>
                    <a:pt x="10768330" y="2546985"/>
                    <a:pt x="10716514" y="2598674"/>
                    <a:pt x="10652760" y="2598674"/>
                  </a:cubicBezTo>
                  <a:lnTo>
                    <a:pt x="115570" y="2598674"/>
                  </a:lnTo>
                  <a:cubicBezTo>
                    <a:pt x="51689" y="2598674"/>
                    <a:pt x="0" y="2546858"/>
                    <a:pt x="0" y="2483104"/>
                  </a:cubicBezTo>
                  <a:close/>
                </a:path>
              </a:pathLst>
            </a:custGeom>
            <a:solidFill>
              <a:srgbClr val="D6F5EE"/>
            </a:solidFill>
            <a:ln w="9526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443885" y="7819130"/>
            <a:ext cx="616296" cy="616296"/>
            <a:chOff x="0" y="0"/>
            <a:chExt cx="821728" cy="8217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21690" cy="821690"/>
            </a:xfrm>
            <a:custGeom>
              <a:avLst/>
              <a:gdLst/>
              <a:ahLst/>
              <a:cxnLst/>
              <a:rect r="r" b="b" t="t" l="l"/>
              <a:pathLst>
                <a:path h="821690" w="821690">
                  <a:moveTo>
                    <a:pt x="0" y="410845"/>
                  </a:moveTo>
                  <a:cubicBezTo>
                    <a:pt x="0" y="183896"/>
                    <a:pt x="183896" y="0"/>
                    <a:pt x="410845" y="0"/>
                  </a:cubicBezTo>
                  <a:cubicBezTo>
                    <a:pt x="637794" y="0"/>
                    <a:pt x="821690" y="183896"/>
                    <a:pt x="821690" y="410845"/>
                  </a:cubicBezTo>
                  <a:cubicBezTo>
                    <a:pt x="821690" y="637794"/>
                    <a:pt x="637794" y="821690"/>
                    <a:pt x="410845" y="821690"/>
                  </a:cubicBezTo>
                  <a:cubicBezTo>
                    <a:pt x="183896" y="821690"/>
                    <a:pt x="0" y="637794"/>
                    <a:pt x="0" y="410845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Freeform 44" id="44" descr="preencoded.png"/>
          <p:cNvSpPr/>
          <p:nvPr/>
        </p:nvSpPr>
        <p:spPr>
          <a:xfrm flipH="false" flipV="false" rot="0">
            <a:off x="9613402" y="7988646"/>
            <a:ext cx="277263" cy="277263"/>
          </a:xfrm>
          <a:custGeom>
            <a:avLst/>
            <a:gdLst/>
            <a:ahLst/>
            <a:cxnLst/>
            <a:rect r="r" b="b" t="t" l="l"/>
            <a:pathLst>
              <a:path h="277263" w="277263">
                <a:moveTo>
                  <a:pt x="0" y="0"/>
                </a:moveTo>
                <a:lnTo>
                  <a:pt x="277263" y="0"/>
                </a:lnTo>
                <a:lnTo>
                  <a:pt x="277263" y="277263"/>
                </a:lnTo>
                <a:lnTo>
                  <a:pt x="0" y="2772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9443885" y="8596017"/>
            <a:ext cx="7636964" cy="33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EXPLAIN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443885" y="8990409"/>
            <a:ext cx="7636964" cy="33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6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Justify every decision with evidence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37587"/>
            <a:ext cx="16303523" cy="6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35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Meet ProcuraAI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583979"/>
            <a:ext cx="17217923" cy="28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An autonomous, policy-aware procurement agent that converts natural-language buying requirements into structured procurement decisions and executes them within defined boundaries.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53357" y="2418902"/>
            <a:ext cx="15781287" cy="5921873"/>
            <a:chOff x="0" y="0"/>
            <a:chExt cx="21041716" cy="789583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041740" cy="7895844"/>
            </a:xfrm>
            <a:custGeom>
              <a:avLst/>
              <a:gdLst/>
              <a:ahLst/>
              <a:cxnLst/>
              <a:rect r="r" b="b" t="t" l="l"/>
              <a:pathLst>
                <a:path h="7895844" w="21041740">
                  <a:moveTo>
                    <a:pt x="0" y="0"/>
                  </a:moveTo>
                  <a:lnTo>
                    <a:pt x="21041740" y="0"/>
                  </a:lnTo>
                  <a:lnTo>
                    <a:pt x="21041740" y="7895844"/>
                  </a:lnTo>
                  <a:lnTo>
                    <a:pt x="0" y="7895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004417" y="6471437"/>
            <a:ext cx="238029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Analyze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04594" y="6471437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Normalize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21079" y="6471437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Discover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37563" y="6471437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Extract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8830" y="6471437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Brief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8059493"/>
            <a:ext cx="17217923" cy="28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ProcuraAI does not merely search for products — it executes a complete decision lifecycle, ensuring every purchase is constraint-compliant, policy-authorized, and fully explainable.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92238" y="8491242"/>
            <a:ext cx="16303523" cy="1019918"/>
          </a:xfrm>
          <a:custGeom>
            <a:avLst/>
            <a:gdLst/>
            <a:ahLst/>
            <a:cxnLst/>
            <a:rect r="r" b="b" t="t" l="l"/>
            <a:pathLst>
              <a:path h="1019918" w="16303523">
                <a:moveTo>
                  <a:pt x="0" y="0"/>
                </a:moveTo>
                <a:lnTo>
                  <a:pt x="16303524" y="0"/>
                </a:lnTo>
                <a:lnTo>
                  <a:pt x="16303524" y="1019918"/>
                </a:lnTo>
                <a:lnTo>
                  <a:pt x="0" y="10199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0" r="0" b="-42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69654" y="8663883"/>
            <a:ext cx="15824892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 b="true">
                <a:solidFill>
                  <a:srgbClr val="4F8CFF"/>
                </a:solidFill>
                <a:latin typeface="Arimo Bold"/>
                <a:ea typeface="Arimo Bold"/>
                <a:cs typeface="Arimo Bold"/>
                <a:sym typeface="Arimo Bold"/>
              </a:rPr>
              <a:t>Core Principle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9654" y="9028662"/>
            <a:ext cx="15824892" cy="28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399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Autonomy within boundaries.</a:t>
            </a: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The agent acts decisively on routine purchases, escalates intelligently when authorization is required, and never exceeds defined policy limits.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9423" y="2084297"/>
            <a:ext cx="16769155" cy="6739104"/>
          </a:xfrm>
          <a:custGeom>
            <a:avLst/>
            <a:gdLst/>
            <a:ahLst/>
            <a:cxnLst/>
            <a:rect r="r" b="b" t="t" l="l"/>
            <a:pathLst>
              <a:path h="6739104" w="16769155">
                <a:moveTo>
                  <a:pt x="0" y="0"/>
                </a:moveTo>
                <a:lnTo>
                  <a:pt x="16769154" y="0"/>
                </a:lnTo>
                <a:lnTo>
                  <a:pt x="16769154" y="6739104"/>
                </a:lnTo>
                <a:lnTo>
                  <a:pt x="0" y="67391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2238" y="727920"/>
            <a:ext cx="7134424" cy="6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ProcuraAI System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2238" y="1575281"/>
            <a:ext cx="17217923" cy="25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complete autonomous procurement workflow with policy-controlled execution.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99935"/>
            <a:ext cx="16303523" cy="72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Constraint Intelligence Engine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774479"/>
            <a:ext cx="17217923" cy="38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first innovation pillar: converting natural language into machine-checkable constraints — the foundation of every downstream decision.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2377678"/>
            <a:ext cx="16303523" cy="818550"/>
            <a:chOff x="0" y="0"/>
            <a:chExt cx="21738031" cy="1091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37955" cy="1091311"/>
            </a:xfrm>
            <a:custGeom>
              <a:avLst/>
              <a:gdLst/>
              <a:ahLst/>
              <a:cxnLst/>
              <a:rect r="r" b="b" t="t" l="l"/>
              <a:pathLst>
                <a:path h="1091311" w="21737955">
                  <a:moveTo>
                    <a:pt x="0" y="123698"/>
                  </a:moveTo>
                  <a:cubicBezTo>
                    <a:pt x="0" y="55372"/>
                    <a:pt x="55372" y="0"/>
                    <a:pt x="123698" y="0"/>
                  </a:cubicBezTo>
                  <a:lnTo>
                    <a:pt x="21614257" y="0"/>
                  </a:lnTo>
                  <a:cubicBezTo>
                    <a:pt x="21682583" y="0"/>
                    <a:pt x="21737955" y="55372"/>
                    <a:pt x="21737955" y="123698"/>
                  </a:cubicBezTo>
                  <a:lnTo>
                    <a:pt x="21737955" y="967613"/>
                  </a:lnTo>
                  <a:cubicBezTo>
                    <a:pt x="21737955" y="1035939"/>
                    <a:pt x="21682583" y="1091311"/>
                    <a:pt x="21614257" y="1091311"/>
                  </a:cubicBezTo>
                  <a:lnTo>
                    <a:pt x="123698" y="1091311"/>
                  </a:lnTo>
                  <a:cubicBezTo>
                    <a:pt x="55372" y="1091438"/>
                    <a:pt x="0" y="1036066"/>
                    <a:pt x="0" y="967613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3094" y="2655389"/>
            <a:ext cx="276073" cy="220856"/>
            <a:chOff x="0" y="0"/>
            <a:chExt cx="368097" cy="294475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368046" cy="294513"/>
            </a:xfrm>
            <a:custGeom>
              <a:avLst/>
              <a:gdLst/>
              <a:ahLst/>
              <a:cxnLst/>
              <a:rect r="r" b="b" t="t" l="l"/>
              <a:pathLst>
                <a:path h="294513" w="368046">
                  <a:moveTo>
                    <a:pt x="0" y="0"/>
                  </a:moveTo>
                  <a:lnTo>
                    <a:pt x="368046" y="0"/>
                  </a:lnTo>
                  <a:lnTo>
                    <a:pt x="368046" y="294513"/>
                  </a:lnTo>
                  <a:lnTo>
                    <a:pt x="0" y="294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24" r="-13" b="-171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10033" y="2582018"/>
            <a:ext cx="16279263" cy="38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Example Buying Brief:</a:t>
            </a:r>
            <a:r>
              <a:rPr lang="en-US" sz="1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"Buy 10 laptops under ₹45,000 each, with 16GB RAM, 512GB SSD and delivery within 7 days."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7476" y="3412779"/>
            <a:ext cx="5312864" cy="3666534"/>
            <a:chOff x="0" y="0"/>
            <a:chExt cx="7083819" cy="48887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83806" cy="4888738"/>
            </a:xfrm>
            <a:custGeom>
              <a:avLst/>
              <a:gdLst/>
              <a:ahLst/>
              <a:cxnLst/>
              <a:rect r="r" b="b" t="t" l="l"/>
              <a:pathLst>
                <a:path h="4888738" w="7083806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6959727" y="0"/>
                  </a:lnTo>
                  <a:cubicBezTo>
                    <a:pt x="7028307" y="0"/>
                    <a:pt x="7083806" y="55499"/>
                    <a:pt x="7083806" y="124079"/>
                  </a:cubicBezTo>
                  <a:lnTo>
                    <a:pt x="7083806" y="4764659"/>
                  </a:lnTo>
                  <a:cubicBezTo>
                    <a:pt x="7083806" y="4833239"/>
                    <a:pt x="7028307" y="4888738"/>
                    <a:pt x="6959727" y="4888738"/>
                  </a:cubicBezTo>
                  <a:lnTo>
                    <a:pt x="124079" y="4888738"/>
                  </a:lnTo>
                  <a:cubicBezTo>
                    <a:pt x="55499" y="4888738"/>
                    <a:pt x="0" y="4833239"/>
                    <a:pt x="0" y="4764659"/>
                  </a:cubicBezTo>
                  <a:close/>
                </a:path>
              </a:pathLst>
            </a:custGeom>
            <a:solidFill>
              <a:srgbClr val="D6F5EE"/>
            </a:solidFill>
            <a:ln w="9526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22619" y="3628873"/>
            <a:ext cx="4842567" cy="364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F5B942"/>
                </a:solidFill>
                <a:latin typeface="Arimo Bold"/>
                <a:ea typeface="Arimo Bold"/>
                <a:cs typeface="Arimo Bold"/>
                <a:sym typeface="Arimo Bold"/>
              </a:rPr>
              <a:t>Hard Constraints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2619" y="4107799"/>
            <a:ext cx="4842567" cy="1949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57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Quantity = 10</a:t>
            </a:r>
          </a:p>
          <a:p>
            <a:pPr algn="l" marL="410210" indent="-205105" lvl="1">
              <a:lnSpc>
                <a:spcPts val="257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Budget ≤ ₹45,000 per unit</a:t>
            </a:r>
          </a:p>
          <a:p>
            <a:pPr algn="l" marL="410210" indent="-205105" lvl="1">
              <a:lnSpc>
                <a:spcPts val="257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RAM ≥ 16GB</a:t>
            </a:r>
          </a:p>
          <a:p>
            <a:pPr algn="l" marL="410210" indent="-205105" lvl="1">
              <a:lnSpc>
                <a:spcPts val="257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SSD ≥ 512GB</a:t>
            </a:r>
          </a:p>
          <a:p>
            <a:pPr algn="l" marL="410210" indent="-205105" lvl="1">
              <a:lnSpc>
                <a:spcPts val="257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Delivery ≤ 7 days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2619" y="6127994"/>
            <a:ext cx="4842567" cy="71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Non-negotiable. Any vendor failing a hard constraint is automatically eliminated.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87563" y="3412779"/>
            <a:ext cx="5312864" cy="3666534"/>
            <a:chOff x="0" y="0"/>
            <a:chExt cx="7083819" cy="48887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83806" cy="4888738"/>
            </a:xfrm>
            <a:custGeom>
              <a:avLst/>
              <a:gdLst/>
              <a:ahLst/>
              <a:cxnLst/>
              <a:rect r="r" b="b" t="t" l="l"/>
              <a:pathLst>
                <a:path h="4888738" w="7083806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6959727" y="0"/>
                  </a:lnTo>
                  <a:cubicBezTo>
                    <a:pt x="7028307" y="0"/>
                    <a:pt x="7083806" y="55499"/>
                    <a:pt x="7083806" y="124079"/>
                  </a:cubicBezTo>
                  <a:lnTo>
                    <a:pt x="7083806" y="4764659"/>
                  </a:lnTo>
                  <a:cubicBezTo>
                    <a:pt x="7083806" y="4833239"/>
                    <a:pt x="7028307" y="4888738"/>
                    <a:pt x="6959727" y="4888738"/>
                  </a:cubicBezTo>
                  <a:lnTo>
                    <a:pt x="124079" y="4888738"/>
                  </a:lnTo>
                  <a:cubicBezTo>
                    <a:pt x="55499" y="4888738"/>
                    <a:pt x="0" y="4833239"/>
                    <a:pt x="0" y="4764659"/>
                  </a:cubicBezTo>
                  <a:close/>
                </a:path>
              </a:pathLst>
            </a:custGeom>
            <a:solidFill>
              <a:srgbClr val="D6F5EE"/>
            </a:solidFill>
            <a:ln w="9526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6722716" y="3628873"/>
            <a:ext cx="4842567" cy="364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20C7B5"/>
                </a:solidFill>
                <a:latin typeface="Arimo Bold"/>
                <a:ea typeface="Arimo Bold"/>
                <a:cs typeface="Arimo Bold"/>
                <a:sym typeface="Arimo Bold"/>
              </a:rPr>
              <a:t>Soft Preferences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22716" y="4107799"/>
            <a:ext cx="4842567" cy="114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57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Brand preference</a:t>
            </a:r>
          </a:p>
          <a:p>
            <a:pPr algn="l" marL="410210" indent="-205105" lvl="1">
              <a:lnSpc>
                <a:spcPts val="257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Warranty coverage</a:t>
            </a:r>
          </a:p>
          <a:p>
            <a:pPr algn="l" marL="410210" indent="-205105" lvl="1">
              <a:lnSpc>
                <a:spcPts val="257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Return policy quality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22716" y="5321941"/>
            <a:ext cx="4842567" cy="1050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Influence the ranking score. A vendor without preferred brand is not eliminated but ranked lower.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987660" y="3412779"/>
            <a:ext cx="5312864" cy="3666534"/>
            <a:chOff x="0" y="0"/>
            <a:chExt cx="7083819" cy="488871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83806" cy="4888738"/>
            </a:xfrm>
            <a:custGeom>
              <a:avLst/>
              <a:gdLst/>
              <a:ahLst/>
              <a:cxnLst/>
              <a:rect r="r" b="b" t="t" l="l"/>
              <a:pathLst>
                <a:path h="4888738" w="7083806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6959727" y="0"/>
                  </a:lnTo>
                  <a:cubicBezTo>
                    <a:pt x="7028307" y="0"/>
                    <a:pt x="7083806" y="55499"/>
                    <a:pt x="7083806" y="124079"/>
                  </a:cubicBezTo>
                  <a:lnTo>
                    <a:pt x="7083806" y="4764659"/>
                  </a:lnTo>
                  <a:cubicBezTo>
                    <a:pt x="7083806" y="4833239"/>
                    <a:pt x="7028307" y="4888738"/>
                    <a:pt x="6959727" y="4888738"/>
                  </a:cubicBezTo>
                  <a:lnTo>
                    <a:pt x="124079" y="4888738"/>
                  </a:lnTo>
                  <a:cubicBezTo>
                    <a:pt x="55499" y="4888738"/>
                    <a:pt x="0" y="4833239"/>
                    <a:pt x="0" y="4764659"/>
                  </a:cubicBezTo>
                  <a:close/>
                </a:path>
              </a:pathLst>
            </a:custGeom>
            <a:solidFill>
              <a:srgbClr val="D6F5EE"/>
            </a:solidFill>
            <a:ln w="9526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222804" y="3628873"/>
            <a:ext cx="4842567" cy="364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85D75"/>
                </a:solidFill>
                <a:latin typeface="Arimo Bold"/>
                <a:ea typeface="Arimo Bold"/>
                <a:cs typeface="Arimo Bold"/>
                <a:sym typeface="Arimo Bold"/>
              </a:rPr>
              <a:t>Ambiguous / Unclear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22804" y="4107799"/>
            <a:ext cx="4842567" cy="140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57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"Good performance" → Requires clarification</a:t>
            </a:r>
          </a:p>
          <a:p>
            <a:pPr algn="l" marL="410210" indent="-205105" lvl="1">
              <a:lnSpc>
                <a:spcPts val="257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"Affordable" → Budget threshold undefined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22804" y="5587451"/>
            <a:ext cx="4842567" cy="1050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Agent proactively asks: </a:t>
            </a:r>
            <a:r>
              <a:rPr lang="en-US" sz="1700" i="true">
                <a:solidFill>
                  <a:srgbClr val="333F7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"What is your maximum budget per laptop?"</a:t>
            </a: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before proceeding.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238" y="7473553"/>
            <a:ext cx="7882233" cy="364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Ambiguity Handling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2238" y="7987008"/>
            <a:ext cx="7882233" cy="1050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When input is underspecified, the agent does not guess. It identifies the ambiguous field, pauses decision execution, and requests targeted clarification from the requester before continuing.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23054" y="7473553"/>
            <a:ext cx="7882233" cy="364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Constraint Relaxation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23054" y="7987008"/>
            <a:ext cx="7882233" cy="138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When no vendor satisfies all hard constraints simultaneously, the engine performs a relaxation analysis — showing the user exactly which constraint could be softened, and the downstream consequence of each relaxation option.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28815"/>
            <a:ext cx="16303523" cy="716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Risk-Aware Decision Engine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777451"/>
            <a:ext cx="16303523" cy="69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E85D7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Cheapest ≠ Best.</a:t>
            </a: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Hard constraints are applied first to eliminate non-compliant vendors. Remaining options are ranked using a multi-objective scoring model that captures total procurement outcome — not just unit price.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2685155"/>
            <a:ext cx="16313048" cy="2346722"/>
            <a:chOff x="0" y="0"/>
            <a:chExt cx="21750731" cy="31289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50782" cy="3128899"/>
            </a:xfrm>
            <a:custGeom>
              <a:avLst/>
              <a:gdLst/>
              <a:ahLst/>
              <a:cxnLst/>
              <a:rect r="r" b="b" t="t" l="l"/>
              <a:pathLst>
                <a:path h="3128899" w="21750782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21628736" y="0"/>
                  </a:lnTo>
                  <a:cubicBezTo>
                    <a:pt x="21696173" y="0"/>
                    <a:pt x="21750782" y="54610"/>
                    <a:pt x="21750782" y="122047"/>
                  </a:cubicBezTo>
                  <a:lnTo>
                    <a:pt x="21750782" y="3006852"/>
                  </a:lnTo>
                  <a:cubicBezTo>
                    <a:pt x="21750782" y="3074289"/>
                    <a:pt x="21696173" y="3128899"/>
                    <a:pt x="21628736" y="3128899"/>
                  </a:cubicBezTo>
                  <a:lnTo>
                    <a:pt x="122047" y="3128899"/>
                  </a:lnTo>
                  <a:cubicBezTo>
                    <a:pt x="54610" y="3128899"/>
                    <a:pt x="0" y="3074289"/>
                    <a:pt x="0" y="30068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50" r="0" b="-85452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3276600"/>
            <a:ext cx="16303523" cy="13564"/>
            <a:chOff x="0" y="0"/>
            <a:chExt cx="21738031" cy="180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38082" cy="18034"/>
            </a:xfrm>
            <a:custGeom>
              <a:avLst/>
              <a:gdLst/>
              <a:ahLst/>
              <a:cxnLst/>
              <a:rect r="r" b="b" t="t" l="l"/>
              <a:pathLst>
                <a:path h="18034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8034"/>
                  </a:lnTo>
                  <a:lnTo>
                    <a:pt x="0" y="18034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2238" y="3858520"/>
            <a:ext cx="16303523" cy="13564"/>
            <a:chOff x="0" y="0"/>
            <a:chExt cx="21738031" cy="180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38082" cy="18034"/>
            </a:xfrm>
            <a:custGeom>
              <a:avLst/>
              <a:gdLst/>
              <a:ahLst/>
              <a:cxnLst/>
              <a:rect r="r" b="b" t="t" l="l"/>
              <a:pathLst>
                <a:path h="18034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8034"/>
                  </a:lnTo>
                  <a:lnTo>
                    <a:pt x="0" y="18034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92238" y="4440441"/>
            <a:ext cx="16303523" cy="13564"/>
            <a:chOff x="0" y="0"/>
            <a:chExt cx="21738031" cy="180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38082" cy="18034"/>
            </a:xfrm>
            <a:custGeom>
              <a:avLst/>
              <a:gdLst/>
              <a:ahLst/>
              <a:cxnLst/>
              <a:rect r="r" b="b" t="t" l="l"/>
              <a:pathLst>
                <a:path h="18034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8034"/>
                  </a:lnTo>
                  <a:lnTo>
                    <a:pt x="0" y="18034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19495" y="2775194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Vendor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33977" y="2775194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 / Unit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48450" y="2775194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Delivery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62923" y="2775194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Reliability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77405" y="2775194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Risk Level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574888" y="2699442"/>
            <a:ext cx="2714473" cy="577158"/>
            <a:chOff x="0" y="0"/>
            <a:chExt cx="3619297" cy="7695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19373" cy="769493"/>
            </a:xfrm>
            <a:custGeom>
              <a:avLst/>
              <a:gdLst/>
              <a:ahLst/>
              <a:cxnLst/>
              <a:rect r="r" b="b" t="t" l="l"/>
              <a:pathLst>
                <a:path h="769493" w="3619373">
                  <a:moveTo>
                    <a:pt x="0" y="0"/>
                  </a:moveTo>
                  <a:lnTo>
                    <a:pt x="3518027" y="0"/>
                  </a:lnTo>
                  <a:cubicBezTo>
                    <a:pt x="3574034" y="0"/>
                    <a:pt x="3619373" y="45339"/>
                    <a:pt x="3619373" y="101346"/>
                  </a:cubicBezTo>
                  <a:lnTo>
                    <a:pt x="3619373" y="769493"/>
                  </a:lnTo>
                  <a:lnTo>
                    <a:pt x="0" y="769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C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791877" y="2775194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27252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Score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9495" y="3357115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Vendor 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33977" y="3357115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₹42,000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48450" y="3357115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5 days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62923" y="3357115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94%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77405" y="3357115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4574888" y="3276600"/>
            <a:ext cx="2714473" cy="581920"/>
            <a:chOff x="0" y="0"/>
            <a:chExt cx="3619297" cy="77589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19246" cy="775843"/>
            </a:xfrm>
            <a:custGeom>
              <a:avLst/>
              <a:gdLst/>
              <a:ahLst/>
              <a:cxnLst/>
              <a:rect r="r" b="b" t="t" l="l"/>
              <a:pathLst>
                <a:path h="775843" w="3619246">
                  <a:moveTo>
                    <a:pt x="0" y="0"/>
                  </a:moveTo>
                  <a:lnTo>
                    <a:pt x="3619246" y="0"/>
                  </a:lnTo>
                  <a:lnTo>
                    <a:pt x="3619246" y="775843"/>
                  </a:lnTo>
                  <a:lnTo>
                    <a:pt x="0" y="775843"/>
                  </a:lnTo>
                  <a:close/>
                </a:path>
              </a:pathLst>
            </a:custGeom>
            <a:solidFill>
              <a:srgbClr val="4F8CF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791877" y="3357115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b="true">
                <a:solidFill>
                  <a:srgbClr val="27252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91.4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9495" y="3939035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Vendor B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933977" y="3939035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₹39,000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648450" y="3939035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7 days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62923" y="3939035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63%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77405" y="3939035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High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791877" y="3939035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71.8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9495" y="4520956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Vendor C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933977" y="4520956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₹44,000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48450" y="4520956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4 days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62923" y="4520956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91%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077405" y="4520956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791877" y="4520956"/>
            <a:ext cx="3194895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89.7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92238" y="5411543"/>
            <a:ext cx="7886995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Decision Factors</a:t>
            </a:r>
          </a:p>
        </p:txBody>
      </p:sp>
      <p:sp>
        <p:nvSpPr>
          <p:cNvPr name="Freeform 45" id="45" descr="preencoded.png"/>
          <p:cNvSpPr/>
          <p:nvPr/>
        </p:nvSpPr>
        <p:spPr>
          <a:xfrm flipH="false" flipV="false" rot="0">
            <a:off x="1073648" y="5989815"/>
            <a:ext cx="325488" cy="325488"/>
          </a:xfrm>
          <a:custGeom>
            <a:avLst/>
            <a:gdLst/>
            <a:ahLst/>
            <a:cxnLst/>
            <a:rect r="r" b="b" t="t" l="l"/>
            <a:pathLst>
              <a:path h="325488" w="325488">
                <a:moveTo>
                  <a:pt x="0" y="0"/>
                </a:moveTo>
                <a:lnTo>
                  <a:pt x="325489" y="0"/>
                </a:lnTo>
                <a:lnTo>
                  <a:pt x="325489" y="325489"/>
                </a:lnTo>
                <a:lnTo>
                  <a:pt x="0" y="32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3" t="0" r="-7143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697536" y="5964136"/>
            <a:ext cx="7181698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Constraint satisfaction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97536" y="6464503"/>
            <a:ext cx="7181698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Hard constraint pass/fail gate applied before scoring</a:t>
            </a:r>
          </a:p>
        </p:txBody>
      </p:sp>
      <p:sp>
        <p:nvSpPr>
          <p:cNvPr name="Freeform 48" id="48" descr="preencoded.png"/>
          <p:cNvSpPr/>
          <p:nvPr/>
        </p:nvSpPr>
        <p:spPr>
          <a:xfrm flipH="false" flipV="false" rot="0">
            <a:off x="1073648" y="7224189"/>
            <a:ext cx="325488" cy="325488"/>
          </a:xfrm>
          <a:custGeom>
            <a:avLst/>
            <a:gdLst/>
            <a:ahLst/>
            <a:cxnLst/>
            <a:rect r="r" b="b" t="t" l="l"/>
            <a:pathLst>
              <a:path h="325488" w="325488">
                <a:moveTo>
                  <a:pt x="0" y="0"/>
                </a:moveTo>
                <a:lnTo>
                  <a:pt x="325489" y="0"/>
                </a:lnTo>
                <a:lnTo>
                  <a:pt x="325489" y="325488"/>
                </a:lnTo>
                <a:lnTo>
                  <a:pt x="0" y="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3" t="0" r="-7143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697536" y="7198519"/>
            <a:ext cx="7181698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Value &amp; delivery speed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97536" y="7698877"/>
            <a:ext cx="7181698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Price and timeline jointly optimized</a:t>
            </a:r>
          </a:p>
        </p:txBody>
      </p:sp>
      <p:sp>
        <p:nvSpPr>
          <p:cNvPr name="Freeform 51" id="51" descr="preencoded.png"/>
          <p:cNvSpPr/>
          <p:nvPr/>
        </p:nvSpPr>
        <p:spPr>
          <a:xfrm flipH="false" flipV="false" rot="0">
            <a:off x="1073648" y="8458571"/>
            <a:ext cx="325488" cy="325488"/>
          </a:xfrm>
          <a:custGeom>
            <a:avLst/>
            <a:gdLst/>
            <a:ahLst/>
            <a:cxnLst/>
            <a:rect r="r" b="b" t="t" l="l"/>
            <a:pathLst>
              <a:path h="325488" w="325488">
                <a:moveTo>
                  <a:pt x="0" y="0"/>
                </a:moveTo>
                <a:lnTo>
                  <a:pt x="325489" y="0"/>
                </a:lnTo>
                <a:lnTo>
                  <a:pt x="325489" y="325489"/>
                </a:lnTo>
                <a:lnTo>
                  <a:pt x="0" y="32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3" t="0" r="-7143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697536" y="8432902"/>
            <a:ext cx="7181698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Reliability &amp; risk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97536" y="8933259"/>
            <a:ext cx="7181698" cy="3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Vendor track record and procurement risk band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418291" y="5411543"/>
            <a:ext cx="7886995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20C7B5"/>
                </a:solidFill>
                <a:latin typeface="Arimo Bold"/>
                <a:ea typeface="Arimo Bold"/>
                <a:cs typeface="Arimo Bold"/>
                <a:sym typeface="Arimo Bold"/>
              </a:rPr>
              <a:t>Outcome: Vendor A Selected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418291" y="5911901"/>
            <a:ext cx="7886995" cy="1675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Vendor A meets all hard constraints, achieves the highest reliability score (94%), carries the lowest procurement risk, and delivers the best overall outcome — despite not being the cheapest option. Vendor B's low reliability (63%) and high risk profile disqualify it from serious consideration regardless of price advantage.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365760"/>
            <a:ext cx="21488400" cy="877824"/>
            <a:chOff x="0" y="0"/>
            <a:chExt cx="28651200" cy="11704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51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8651200">
                  <a:moveTo>
                    <a:pt x="0" y="0"/>
                  </a:moveTo>
                  <a:lnTo>
                    <a:pt x="28651200" y="0"/>
                  </a:lnTo>
                  <a:lnTo>
                    <a:pt x="28651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6977" r="0" b="-42697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8651200" cy="11609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333F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One Request. One Intelligent Procurement Journey.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0160" y="1243584"/>
            <a:ext cx="19751040" cy="365760"/>
            <a:chOff x="0" y="0"/>
            <a:chExt cx="26334720" cy="48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334721" cy="487680"/>
            </a:xfrm>
            <a:custGeom>
              <a:avLst/>
              <a:gdLst/>
              <a:ahLst/>
              <a:cxnLst/>
              <a:rect r="r" b="b" t="t" l="l"/>
              <a:pathLst>
                <a:path h="487680" w="26334721">
                  <a:moveTo>
                    <a:pt x="0" y="0"/>
                  </a:moveTo>
                  <a:lnTo>
                    <a:pt x="26334721" y="0"/>
                  </a:lnTo>
                  <a:lnTo>
                    <a:pt x="26334721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2192" r="0" b="-100219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6334720" cy="487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F7391"/>
                  </a:solidFill>
                  <a:latin typeface="Aptos"/>
                  <a:ea typeface="Aptos"/>
                  <a:cs typeface="Aptos"/>
                  <a:sym typeface="Aptos"/>
                </a:rPr>
                <a:t>From a natural-language buying brief to an explainable, policy-compliant purchase.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5840" y="1609344"/>
            <a:ext cx="16276320" cy="21946"/>
            <a:chOff x="0" y="0"/>
            <a:chExt cx="21701760" cy="292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01761" cy="29210"/>
            </a:xfrm>
            <a:custGeom>
              <a:avLst/>
              <a:gdLst/>
              <a:ahLst/>
              <a:cxnLst/>
              <a:rect r="r" b="b" t="t" l="l"/>
              <a:pathLst>
                <a:path h="2921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EEF3FA"/>
            </a:solidFill>
          </p:spPr>
        </p:sp>
      </p:grpSp>
      <p:sp>
        <p:nvSpPr>
          <p:cNvPr name="AutoShape 10" id="10"/>
          <p:cNvSpPr/>
          <p:nvPr/>
        </p:nvSpPr>
        <p:spPr>
          <a:xfrm rot="5375460">
            <a:off x="-1266530" y="5806059"/>
            <a:ext cx="6410106" cy="0"/>
          </a:xfrm>
          <a:prstGeom prst="line">
            <a:avLst/>
          </a:prstGeom>
          <a:ln cap="rnd" w="19050">
            <a:solidFill>
              <a:srgbClr val="B1C1D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602991" y="1968751"/>
            <a:ext cx="671065" cy="671065"/>
            <a:chOff x="0" y="0"/>
            <a:chExt cx="894753" cy="8947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4715" cy="894715"/>
            </a:xfrm>
            <a:custGeom>
              <a:avLst/>
              <a:gdLst/>
              <a:ahLst/>
              <a:cxnLst/>
              <a:rect r="r" b="b" t="t" l="l"/>
              <a:pathLst>
                <a:path h="894715" w="894715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cubicBezTo>
                    <a:pt x="694563" y="0"/>
                    <a:pt x="894715" y="200279"/>
                    <a:pt x="894715" y="447421"/>
                  </a:cubicBezTo>
                  <a:cubicBezTo>
                    <a:pt x="894715" y="694563"/>
                    <a:pt x="694436" y="894715"/>
                    <a:pt x="447421" y="894715"/>
                  </a:cubicBezTo>
                  <a:cubicBezTo>
                    <a:pt x="200406" y="894715"/>
                    <a:pt x="0" y="694436"/>
                    <a:pt x="0" y="447421"/>
                  </a:cubicBezTo>
                  <a:close/>
                </a:path>
              </a:pathLst>
            </a:custGeom>
            <a:solidFill>
              <a:srgbClr val="4984F2"/>
            </a:solidFill>
            <a:ln w="12700" cap="sq">
              <a:solidFill>
                <a:srgbClr val="4984F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894753" cy="90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47088" y="2660904"/>
            <a:ext cx="182880" cy="237744"/>
            <a:chOff x="0" y="0"/>
            <a:chExt cx="243840" cy="3169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" cy="316992"/>
            </a:xfrm>
            <a:custGeom>
              <a:avLst/>
              <a:gdLst/>
              <a:ahLst/>
              <a:cxnLst/>
              <a:rect r="r" b="b" t="t" l="l"/>
              <a:pathLst>
                <a:path h="316992" w="243840">
                  <a:moveTo>
                    <a:pt x="0" y="195072"/>
                  </a:moveTo>
                  <a:lnTo>
                    <a:pt x="60960" y="195072"/>
                  </a:lnTo>
                  <a:lnTo>
                    <a:pt x="60960" y="0"/>
                  </a:lnTo>
                  <a:lnTo>
                    <a:pt x="182880" y="0"/>
                  </a:lnTo>
                  <a:lnTo>
                    <a:pt x="182880" y="195072"/>
                  </a:lnTo>
                  <a:lnTo>
                    <a:pt x="243840" y="195072"/>
                  </a:lnTo>
                  <a:lnTo>
                    <a:pt x="121920" y="316992"/>
                  </a:lnTo>
                  <a:close/>
                </a:path>
              </a:pathLst>
            </a:custGeom>
            <a:solidFill>
              <a:srgbClr val="B1C1D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560320" y="1956816"/>
            <a:ext cx="8503920" cy="365760"/>
            <a:chOff x="0" y="0"/>
            <a:chExt cx="11338560" cy="487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38560" cy="487680"/>
            </a:xfrm>
            <a:custGeom>
              <a:avLst/>
              <a:gdLst/>
              <a:ahLst/>
              <a:cxnLst/>
              <a:rect r="r" b="b" t="t" l="l"/>
              <a:pathLst>
                <a:path h="48768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3027" r="0" b="-40302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133856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5"/>
                </a:lnSpc>
              </a:pPr>
              <a:r>
                <a:rPr lang="en-US" sz="2037" b="true">
                  <a:solidFill>
                    <a:srgbClr val="232F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User submits a buying brief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560320" y="2322576"/>
            <a:ext cx="85039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>
                <a:solidFill>
                  <a:srgbClr val="5C6984"/>
                </a:solidFill>
                <a:latin typeface="Open Sans"/>
                <a:ea typeface="Open Sans"/>
                <a:cs typeface="Open Sans"/>
                <a:sym typeface="Open Sans"/>
              </a:rPr>
              <a:t>“Buy 10 laptops under ₹45K each, 16GB RAM, 512GB SSD, delivery within 7 days.”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02991" y="2846575"/>
            <a:ext cx="671065" cy="671065"/>
            <a:chOff x="0" y="0"/>
            <a:chExt cx="894753" cy="8947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4715" cy="894715"/>
            </a:xfrm>
            <a:custGeom>
              <a:avLst/>
              <a:gdLst/>
              <a:ahLst/>
              <a:cxnLst/>
              <a:rect r="r" b="b" t="t" l="l"/>
              <a:pathLst>
                <a:path h="894715" w="894715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cubicBezTo>
                    <a:pt x="694563" y="0"/>
                    <a:pt x="894715" y="200279"/>
                    <a:pt x="894715" y="447421"/>
                  </a:cubicBezTo>
                  <a:cubicBezTo>
                    <a:pt x="894715" y="694563"/>
                    <a:pt x="694436" y="894715"/>
                    <a:pt x="447421" y="894715"/>
                  </a:cubicBezTo>
                  <a:cubicBezTo>
                    <a:pt x="200406" y="894715"/>
                    <a:pt x="0" y="694436"/>
                    <a:pt x="0" y="447421"/>
                  </a:cubicBezTo>
                  <a:close/>
                </a:path>
              </a:pathLst>
            </a:custGeom>
            <a:solidFill>
              <a:srgbClr val="4984F2"/>
            </a:solidFill>
            <a:ln w="12700" cap="sq">
              <a:solidFill>
                <a:srgbClr val="4984F2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894753" cy="90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47088" y="3538728"/>
            <a:ext cx="182880" cy="237744"/>
            <a:chOff x="0" y="0"/>
            <a:chExt cx="243840" cy="3169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3840" cy="316992"/>
            </a:xfrm>
            <a:custGeom>
              <a:avLst/>
              <a:gdLst/>
              <a:ahLst/>
              <a:cxnLst/>
              <a:rect r="r" b="b" t="t" l="l"/>
              <a:pathLst>
                <a:path h="316992" w="243840">
                  <a:moveTo>
                    <a:pt x="0" y="195072"/>
                  </a:moveTo>
                  <a:lnTo>
                    <a:pt x="60960" y="195072"/>
                  </a:lnTo>
                  <a:lnTo>
                    <a:pt x="60960" y="0"/>
                  </a:lnTo>
                  <a:lnTo>
                    <a:pt x="182880" y="0"/>
                  </a:lnTo>
                  <a:lnTo>
                    <a:pt x="182880" y="195072"/>
                  </a:lnTo>
                  <a:lnTo>
                    <a:pt x="243840" y="195072"/>
                  </a:lnTo>
                  <a:lnTo>
                    <a:pt x="121920" y="316992"/>
                  </a:lnTo>
                  <a:close/>
                </a:path>
              </a:pathLst>
            </a:custGeom>
            <a:solidFill>
              <a:srgbClr val="B1C1D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560320" y="2834640"/>
            <a:ext cx="8503920" cy="365760"/>
            <a:chOff x="0" y="0"/>
            <a:chExt cx="11338560" cy="487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38560" cy="487680"/>
            </a:xfrm>
            <a:custGeom>
              <a:avLst/>
              <a:gdLst/>
              <a:ahLst/>
              <a:cxnLst/>
              <a:rect r="r" b="b" t="t" l="l"/>
              <a:pathLst>
                <a:path h="48768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3027" r="0" b="-40302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133856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5"/>
                </a:lnSpc>
              </a:pPr>
              <a:r>
                <a:rPr lang="en-US" sz="2037" b="true">
                  <a:solidFill>
                    <a:srgbClr val="232F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Intent &amp; constraints extracted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560320" y="3200400"/>
            <a:ext cx="85039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>
                <a:solidFill>
                  <a:srgbClr val="5C6984"/>
                </a:solidFill>
                <a:latin typeface="Open Sans"/>
                <a:ea typeface="Open Sans"/>
                <a:cs typeface="Open Sans"/>
                <a:sym typeface="Open Sans"/>
              </a:rPr>
              <a:t>Budget, quantity, specifications, delivery timeline, and ambiguity checks.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02991" y="3724399"/>
            <a:ext cx="671065" cy="671065"/>
            <a:chOff x="0" y="0"/>
            <a:chExt cx="894753" cy="89475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94715" cy="894715"/>
            </a:xfrm>
            <a:custGeom>
              <a:avLst/>
              <a:gdLst/>
              <a:ahLst/>
              <a:cxnLst/>
              <a:rect r="r" b="b" t="t" l="l"/>
              <a:pathLst>
                <a:path h="894715" w="894715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cubicBezTo>
                    <a:pt x="694563" y="0"/>
                    <a:pt x="894715" y="200279"/>
                    <a:pt x="894715" y="447421"/>
                  </a:cubicBezTo>
                  <a:cubicBezTo>
                    <a:pt x="894715" y="694563"/>
                    <a:pt x="694436" y="894715"/>
                    <a:pt x="447421" y="894715"/>
                  </a:cubicBezTo>
                  <a:cubicBezTo>
                    <a:pt x="200406" y="894715"/>
                    <a:pt x="0" y="694436"/>
                    <a:pt x="0" y="447421"/>
                  </a:cubicBezTo>
                  <a:close/>
                </a:path>
              </a:pathLst>
            </a:custGeom>
            <a:solidFill>
              <a:srgbClr val="4984F2"/>
            </a:solidFill>
            <a:ln w="12700" cap="sq">
              <a:solidFill>
                <a:srgbClr val="4984F2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894753" cy="90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47088" y="4416552"/>
            <a:ext cx="182880" cy="237744"/>
            <a:chOff x="0" y="0"/>
            <a:chExt cx="243840" cy="3169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3840" cy="316992"/>
            </a:xfrm>
            <a:custGeom>
              <a:avLst/>
              <a:gdLst/>
              <a:ahLst/>
              <a:cxnLst/>
              <a:rect r="r" b="b" t="t" l="l"/>
              <a:pathLst>
                <a:path h="316992" w="243840">
                  <a:moveTo>
                    <a:pt x="0" y="195072"/>
                  </a:moveTo>
                  <a:lnTo>
                    <a:pt x="60960" y="195072"/>
                  </a:lnTo>
                  <a:lnTo>
                    <a:pt x="60960" y="0"/>
                  </a:lnTo>
                  <a:lnTo>
                    <a:pt x="182880" y="0"/>
                  </a:lnTo>
                  <a:lnTo>
                    <a:pt x="182880" y="195072"/>
                  </a:lnTo>
                  <a:lnTo>
                    <a:pt x="243840" y="195072"/>
                  </a:lnTo>
                  <a:lnTo>
                    <a:pt x="121920" y="316992"/>
                  </a:lnTo>
                  <a:close/>
                </a:path>
              </a:pathLst>
            </a:custGeom>
            <a:solidFill>
              <a:srgbClr val="B1C1D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560320" y="3712464"/>
            <a:ext cx="8503920" cy="365760"/>
            <a:chOff x="0" y="0"/>
            <a:chExt cx="11338560" cy="4876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338560" cy="487680"/>
            </a:xfrm>
            <a:custGeom>
              <a:avLst/>
              <a:gdLst/>
              <a:ahLst/>
              <a:cxnLst/>
              <a:rect r="r" b="b" t="t" l="l"/>
              <a:pathLst>
                <a:path h="48768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3027" r="0" b="-40302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133856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5"/>
                </a:lnSpc>
              </a:pPr>
              <a:r>
                <a:rPr lang="en-US" sz="2037" b="true">
                  <a:solidFill>
                    <a:srgbClr val="232F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Vendor discovery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2560320" y="4078224"/>
            <a:ext cx="85039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>
                <a:solidFill>
                  <a:srgbClr val="5C6984"/>
                </a:solidFill>
                <a:latin typeface="Open Sans"/>
                <a:ea typeface="Open Sans"/>
                <a:cs typeface="Open Sans"/>
                <a:sym typeface="Open Sans"/>
              </a:rPr>
              <a:t>12 vendors discovered across multiple procurement sources.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602991" y="4602223"/>
            <a:ext cx="671065" cy="671065"/>
            <a:chOff x="0" y="0"/>
            <a:chExt cx="894753" cy="89475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94715" cy="894715"/>
            </a:xfrm>
            <a:custGeom>
              <a:avLst/>
              <a:gdLst/>
              <a:ahLst/>
              <a:cxnLst/>
              <a:rect r="r" b="b" t="t" l="l"/>
              <a:pathLst>
                <a:path h="894715" w="894715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cubicBezTo>
                    <a:pt x="694563" y="0"/>
                    <a:pt x="894715" y="200279"/>
                    <a:pt x="894715" y="447421"/>
                  </a:cubicBezTo>
                  <a:cubicBezTo>
                    <a:pt x="894715" y="694563"/>
                    <a:pt x="694436" y="894715"/>
                    <a:pt x="447421" y="894715"/>
                  </a:cubicBezTo>
                  <a:cubicBezTo>
                    <a:pt x="200406" y="894715"/>
                    <a:pt x="0" y="694436"/>
                    <a:pt x="0" y="447421"/>
                  </a:cubicBezTo>
                  <a:close/>
                </a:path>
              </a:pathLst>
            </a:custGeom>
            <a:solidFill>
              <a:srgbClr val="4984F2"/>
            </a:solidFill>
            <a:ln w="12700" cap="sq">
              <a:solidFill>
                <a:srgbClr val="4984F2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894753" cy="90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847088" y="5294376"/>
            <a:ext cx="182880" cy="237744"/>
            <a:chOff x="0" y="0"/>
            <a:chExt cx="243840" cy="3169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3840" cy="316992"/>
            </a:xfrm>
            <a:custGeom>
              <a:avLst/>
              <a:gdLst/>
              <a:ahLst/>
              <a:cxnLst/>
              <a:rect r="r" b="b" t="t" l="l"/>
              <a:pathLst>
                <a:path h="316992" w="243840">
                  <a:moveTo>
                    <a:pt x="0" y="195072"/>
                  </a:moveTo>
                  <a:lnTo>
                    <a:pt x="60960" y="195072"/>
                  </a:lnTo>
                  <a:lnTo>
                    <a:pt x="60960" y="0"/>
                  </a:lnTo>
                  <a:lnTo>
                    <a:pt x="182880" y="0"/>
                  </a:lnTo>
                  <a:lnTo>
                    <a:pt x="182880" y="195072"/>
                  </a:lnTo>
                  <a:lnTo>
                    <a:pt x="243840" y="195072"/>
                  </a:lnTo>
                  <a:lnTo>
                    <a:pt x="121920" y="316992"/>
                  </a:lnTo>
                  <a:close/>
                </a:path>
              </a:pathLst>
            </a:custGeom>
            <a:solidFill>
              <a:srgbClr val="B1C1D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560320" y="4590288"/>
            <a:ext cx="8503920" cy="365760"/>
            <a:chOff x="0" y="0"/>
            <a:chExt cx="11338560" cy="487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338560" cy="487680"/>
            </a:xfrm>
            <a:custGeom>
              <a:avLst/>
              <a:gdLst/>
              <a:ahLst/>
              <a:cxnLst/>
              <a:rect r="r" b="b" t="t" l="l"/>
              <a:pathLst>
                <a:path h="48768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3027" r="0" b="-40302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133856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5"/>
                </a:lnSpc>
              </a:pPr>
              <a:r>
                <a:rPr lang="en-US" sz="2037" b="true">
                  <a:solidFill>
                    <a:srgbClr val="232F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Constraint filtering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2560320" y="4956048"/>
            <a:ext cx="85039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>
                <a:solidFill>
                  <a:srgbClr val="5C6984"/>
                </a:solidFill>
                <a:latin typeface="Open Sans"/>
                <a:ea typeface="Open Sans"/>
                <a:cs typeface="Open Sans"/>
                <a:sym typeface="Open Sans"/>
              </a:rPr>
              <a:t>7 vendors eliminated immediately for violating hard constraints.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602991" y="5480047"/>
            <a:ext cx="671065" cy="671065"/>
            <a:chOff x="0" y="0"/>
            <a:chExt cx="894753" cy="89475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94715" cy="894715"/>
            </a:xfrm>
            <a:custGeom>
              <a:avLst/>
              <a:gdLst/>
              <a:ahLst/>
              <a:cxnLst/>
              <a:rect r="r" b="b" t="t" l="l"/>
              <a:pathLst>
                <a:path h="894715" w="894715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cubicBezTo>
                    <a:pt x="694563" y="0"/>
                    <a:pt x="894715" y="200279"/>
                    <a:pt x="894715" y="447421"/>
                  </a:cubicBezTo>
                  <a:cubicBezTo>
                    <a:pt x="894715" y="694563"/>
                    <a:pt x="694436" y="894715"/>
                    <a:pt x="447421" y="894715"/>
                  </a:cubicBezTo>
                  <a:cubicBezTo>
                    <a:pt x="200406" y="894715"/>
                    <a:pt x="0" y="694436"/>
                    <a:pt x="0" y="447421"/>
                  </a:cubicBezTo>
                  <a:close/>
                </a:path>
              </a:pathLst>
            </a:custGeom>
            <a:solidFill>
              <a:srgbClr val="4984F2"/>
            </a:solidFill>
            <a:ln w="12700" cap="sq">
              <a:solidFill>
                <a:srgbClr val="4984F2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894753" cy="90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847088" y="6172200"/>
            <a:ext cx="182880" cy="237744"/>
            <a:chOff x="0" y="0"/>
            <a:chExt cx="243840" cy="3169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3840" cy="316992"/>
            </a:xfrm>
            <a:custGeom>
              <a:avLst/>
              <a:gdLst/>
              <a:ahLst/>
              <a:cxnLst/>
              <a:rect r="r" b="b" t="t" l="l"/>
              <a:pathLst>
                <a:path h="316992" w="243840">
                  <a:moveTo>
                    <a:pt x="0" y="195072"/>
                  </a:moveTo>
                  <a:lnTo>
                    <a:pt x="60960" y="195072"/>
                  </a:lnTo>
                  <a:lnTo>
                    <a:pt x="60960" y="0"/>
                  </a:lnTo>
                  <a:lnTo>
                    <a:pt x="182880" y="0"/>
                  </a:lnTo>
                  <a:lnTo>
                    <a:pt x="182880" y="195072"/>
                  </a:lnTo>
                  <a:lnTo>
                    <a:pt x="243840" y="195072"/>
                  </a:lnTo>
                  <a:lnTo>
                    <a:pt x="121920" y="316992"/>
                  </a:lnTo>
                  <a:close/>
                </a:path>
              </a:pathLst>
            </a:custGeom>
            <a:solidFill>
              <a:srgbClr val="B1C1DC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560320" y="5468112"/>
            <a:ext cx="8503920" cy="365760"/>
            <a:chOff x="0" y="0"/>
            <a:chExt cx="11338560" cy="4876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338560" cy="487680"/>
            </a:xfrm>
            <a:custGeom>
              <a:avLst/>
              <a:gdLst/>
              <a:ahLst/>
              <a:cxnLst/>
              <a:rect r="r" b="b" t="t" l="l"/>
              <a:pathLst>
                <a:path h="48768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3027" r="0" b="-40302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133856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5"/>
                </a:lnSpc>
              </a:pPr>
              <a:r>
                <a:rPr lang="en-US" sz="2037" b="true">
                  <a:solidFill>
                    <a:srgbClr val="232F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Risk-aware ranking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2560320" y="5833872"/>
            <a:ext cx="85039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>
                <a:solidFill>
                  <a:srgbClr val="5C6984"/>
                </a:solidFill>
                <a:latin typeface="Open Sans"/>
                <a:ea typeface="Open Sans"/>
                <a:cs typeface="Open Sans"/>
                <a:sym typeface="Open Sans"/>
              </a:rPr>
              <a:t>Remaining vendors scored using price, reliability, delivery, and procurement risk.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602991" y="6357871"/>
            <a:ext cx="671065" cy="671065"/>
            <a:chOff x="0" y="0"/>
            <a:chExt cx="894753" cy="89475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94715" cy="894715"/>
            </a:xfrm>
            <a:custGeom>
              <a:avLst/>
              <a:gdLst/>
              <a:ahLst/>
              <a:cxnLst/>
              <a:rect r="r" b="b" t="t" l="l"/>
              <a:pathLst>
                <a:path h="894715" w="894715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cubicBezTo>
                    <a:pt x="694563" y="0"/>
                    <a:pt x="894715" y="200279"/>
                    <a:pt x="894715" y="447421"/>
                  </a:cubicBezTo>
                  <a:cubicBezTo>
                    <a:pt x="894715" y="694563"/>
                    <a:pt x="694436" y="894715"/>
                    <a:pt x="447421" y="894715"/>
                  </a:cubicBezTo>
                  <a:cubicBezTo>
                    <a:pt x="200406" y="894715"/>
                    <a:pt x="0" y="694436"/>
                    <a:pt x="0" y="447421"/>
                  </a:cubicBezTo>
                  <a:close/>
                </a:path>
              </a:pathLst>
            </a:custGeom>
            <a:solidFill>
              <a:srgbClr val="EBA930"/>
            </a:solidFill>
            <a:ln w="12700" cap="sq">
              <a:solidFill>
                <a:srgbClr val="EBA93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894753" cy="90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847088" y="7050024"/>
            <a:ext cx="182880" cy="237744"/>
            <a:chOff x="0" y="0"/>
            <a:chExt cx="243840" cy="3169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3840" cy="316992"/>
            </a:xfrm>
            <a:custGeom>
              <a:avLst/>
              <a:gdLst/>
              <a:ahLst/>
              <a:cxnLst/>
              <a:rect r="r" b="b" t="t" l="l"/>
              <a:pathLst>
                <a:path h="316992" w="243840">
                  <a:moveTo>
                    <a:pt x="0" y="195072"/>
                  </a:moveTo>
                  <a:lnTo>
                    <a:pt x="60960" y="195072"/>
                  </a:lnTo>
                  <a:lnTo>
                    <a:pt x="60960" y="0"/>
                  </a:lnTo>
                  <a:lnTo>
                    <a:pt x="182880" y="0"/>
                  </a:lnTo>
                  <a:lnTo>
                    <a:pt x="182880" y="195072"/>
                  </a:lnTo>
                  <a:lnTo>
                    <a:pt x="243840" y="195072"/>
                  </a:lnTo>
                  <a:lnTo>
                    <a:pt x="121920" y="316992"/>
                  </a:lnTo>
                  <a:close/>
                </a:path>
              </a:pathLst>
            </a:custGeom>
            <a:solidFill>
              <a:srgbClr val="B1C1DC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2560320" y="6345936"/>
            <a:ext cx="8503920" cy="365760"/>
            <a:chOff x="0" y="0"/>
            <a:chExt cx="11338560" cy="4876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338560" cy="487680"/>
            </a:xfrm>
            <a:custGeom>
              <a:avLst/>
              <a:gdLst/>
              <a:ahLst/>
              <a:cxnLst/>
              <a:rect r="r" b="b" t="t" l="l"/>
              <a:pathLst>
                <a:path h="48768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3027" r="0" b="-40302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133856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5"/>
                </a:lnSpc>
              </a:pPr>
              <a:r>
                <a:rPr lang="en-US" sz="2037" b="true">
                  <a:solidFill>
                    <a:srgbClr val="232F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Authorization check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2560320" y="6711696"/>
            <a:ext cx="85039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>
                <a:solidFill>
                  <a:srgbClr val="5C6984"/>
                </a:solidFill>
                <a:latin typeface="Open Sans"/>
                <a:ea typeface="Open Sans"/>
                <a:cs typeface="Open Sans"/>
                <a:sym typeface="Open Sans"/>
              </a:rPr>
              <a:t>Decision passes through the Authorization Firewall.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602991" y="7235695"/>
            <a:ext cx="671065" cy="671065"/>
            <a:chOff x="0" y="0"/>
            <a:chExt cx="894753" cy="89475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94715" cy="894715"/>
            </a:xfrm>
            <a:custGeom>
              <a:avLst/>
              <a:gdLst/>
              <a:ahLst/>
              <a:cxnLst/>
              <a:rect r="r" b="b" t="t" l="l"/>
              <a:pathLst>
                <a:path h="894715" w="894715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cubicBezTo>
                    <a:pt x="694563" y="0"/>
                    <a:pt x="894715" y="200279"/>
                    <a:pt x="894715" y="447421"/>
                  </a:cubicBezTo>
                  <a:cubicBezTo>
                    <a:pt x="894715" y="694563"/>
                    <a:pt x="694436" y="894715"/>
                    <a:pt x="447421" y="894715"/>
                  </a:cubicBezTo>
                  <a:cubicBezTo>
                    <a:pt x="200406" y="894715"/>
                    <a:pt x="0" y="694436"/>
                    <a:pt x="0" y="447421"/>
                  </a:cubicBezTo>
                  <a:close/>
                </a:path>
              </a:pathLst>
            </a:custGeom>
            <a:solidFill>
              <a:srgbClr val="2BA68E"/>
            </a:solidFill>
            <a:ln w="12700" cap="sq">
              <a:solidFill>
                <a:srgbClr val="2BA68E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894753" cy="90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847088" y="7927848"/>
            <a:ext cx="182880" cy="237744"/>
            <a:chOff x="0" y="0"/>
            <a:chExt cx="243840" cy="3169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3840" cy="316992"/>
            </a:xfrm>
            <a:custGeom>
              <a:avLst/>
              <a:gdLst/>
              <a:ahLst/>
              <a:cxnLst/>
              <a:rect r="r" b="b" t="t" l="l"/>
              <a:pathLst>
                <a:path h="316992" w="243840">
                  <a:moveTo>
                    <a:pt x="0" y="195072"/>
                  </a:moveTo>
                  <a:lnTo>
                    <a:pt x="60960" y="195072"/>
                  </a:lnTo>
                  <a:lnTo>
                    <a:pt x="60960" y="0"/>
                  </a:lnTo>
                  <a:lnTo>
                    <a:pt x="182880" y="0"/>
                  </a:lnTo>
                  <a:lnTo>
                    <a:pt x="182880" y="195072"/>
                  </a:lnTo>
                  <a:lnTo>
                    <a:pt x="243840" y="195072"/>
                  </a:lnTo>
                  <a:lnTo>
                    <a:pt x="121920" y="316992"/>
                  </a:lnTo>
                  <a:close/>
                </a:path>
              </a:pathLst>
            </a:custGeom>
            <a:solidFill>
              <a:srgbClr val="B1C1DC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2560320" y="7223760"/>
            <a:ext cx="8503920" cy="365760"/>
            <a:chOff x="0" y="0"/>
            <a:chExt cx="11338560" cy="4876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338560" cy="487680"/>
            </a:xfrm>
            <a:custGeom>
              <a:avLst/>
              <a:gdLst/>
              <a:ahLst/>
              <a:cxnLst/>
              <a:rect r="r" b="b" t="t" l="l"/>
              <a:pathLst>
                <a:path h="48768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3027" r="0" b="-40302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1133856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5"/>
                </a:lnSpc>
              </a:pPr>
              <a:r>
                <a:rPr lang="en-US" sz="2037" b="true">
                  <a:solidFill>
                    <a:srgbClr val="232F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Negotiation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2560320" y="7589520"/>
            <a:ext cx="85039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>
                <a:solidFill>
                  <a:srgbClr val="5C6984"/>
                </a:solidFill>
                <a:latin typeface="Open Sans"/>
                <a:ea typeface="Open Sans"/>
                <a:cs typeface="Open Sans"/>
                <a:sym typeface="Open Sans"/>
              </a:rPr>
              <a:t>Bulk pricing confirmed within negotiation tolerance.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602991" y="8113519"/>
            <a:ext cx="671065" cy="671065"/>
            <a:chOff x="0" y="0"/>
            <a:chExt cx="894753" cy="89475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94715" cy="894715"/>
            </a:xfrm>
            <a:custGeom>
              <a:avLst/>
              <a:gdLst/>
              <a:ahLst/>
              <a:cxnLst/>
              <a:rect r="r" b="b" t="t" l="l"/>
              <a:pathLst>
                <a:path h="894715" w="894715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cubicBezTo>
                    <a:pt x="694563" y="0"/>
                    <a:pt x="894715" y="200279"/>
                    <a:pt x="894715" y="447421"/>
                  </a:cubicBezTo>
                  <a:cubicBezTo>
                    <a:pt x="894715" y="694563"/>
                    <a:pt x="694436" y="894715"/>
                    <a:pt x="447421" y="894715"/>
                  </a:cubicBezTo>
                  <a:cubicBezTo>
                    <a:pt x="200406" y="894715"/>
                    <a:pt x="0" y="694436"/>
                    <a:pt x="0" y="447421"/>
                  </a:cubicBezTo>
                  <a:close/>
                </a:path>
              </a:pathLst>
            </a:custGeom>
            <a:solidFill>
              <a:srgbClr val="2BA68E"/>
            </a:solidFill>
            <a:ln w="12700" cap="sq">
              <a:solidFill>
                <a:srgbClr val="2BA68E"/>
              </a:solidFill>
              <a:prstDash val="solid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894753" cy="90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847088" y="8805672"/>
            <a:ext cx="182880" cy="237744"/>
            <a:chOff x="0" y="0"/>
            <a:chExt cx="243840" cy="3169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43840" cy="316992"/>
            </a:xfrm>
            <a:custGeom>
              <a:avLst/>
              <a:gdLst/>
              <a:ahLst/>
              <a:cxnLst/>
              <a:rect r="r" b="b" t="t" l="l"/>
              <a:pathLst>
                <a:path h="316992" w="243840">
                  <a:moveTo>
                    <a:pt x="0" y="195072"/>
                  </a:moveTo>
                  <a:lnTo>
                    <a:pt x="60960" y="195072"/>
                  </a:lnTo>
                  <a:lnTo>
                    <a:pt x="60960" y="0"/>
                  </a:lnTo>
                  <a:lnTo>
                    <a:pt x="182880" y="0"/>
                  </a:lnTo>
                  <a:lnTo>
                    <a:pt x="182880" y="195072"/>
                  </a:lnTo>
                  <a:lnTo>
                    <a:pt x="243840" y="195072"/>
                  </a:lnTo>
                  <a:lnTo>
                    <a:pt x="121920" y="316992"/>
                  </a:lnTo>
                  <a:close/>
                </a:path>
              </a:pathLst>
            </a:custGeom>
            <a:solidFill>
              <a:srgbClr val="B1C1DC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2560320" y="8101584"/>
            <a:ext cx="8503920" cy="365760"/>
            <a:chOff x="0" y="0"/>
            <a:chExt cx="11338560" cy="4876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338560" cy="487680"/>
            </a:xfrm>
            <a:custGeom>
              <a:avLst/>
              <a:gdLst/>
              <a:ahLst/>
              <a:cxnLst/>
              <a:rect r="r" b="b" t="t" l="l"/>
              <a:pathLst>
                <a:path h="48768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3027" r="0" b="-40302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1133856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5"/>
                </a:lnSpc>
              </a:pPr>
              <a:r>
                <a:rPr lang="en-US" sz="2037" b="true">
                  <a:solidFill>
                    <a:srgbClr val="232F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Mock purchase executed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2560320" y="8467344"/>
            <a:ext cx="85039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>
                <a:solidFill>
                  <a:srgbClr val="5C6984"/>
                </a:solidFill>
                <a:latin typeface="Open Sans"/>
                <a:ea typeface="Open Sans"/>
                <a:cs typeface="Open Sans"/>
                <a:sym typeface="Open Sans"/>
              </a:rPr>
              <a:t>Purchase confirmation and order details generated.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602991" y="8991343"/>
            <a:ext cx="671065" cy="671065"/>
            <a:chOff x="0" y="0"/>
            <a:chExt cx="894753" cy="89475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94715" cy="894715"/>
            </a:xfrm>
            <a:custGeom>
              <a:avLst/>
              <a:gdLst/>
              <a:ahLst/>
              <a:cxnLst/>
              <a:rect r="r" b="b" t="t" l="l"/>
              <a:pathLst>
                <a:path h="894715" w="894715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cubicBezTo>
                    <a:pt x="694563" y="0"/>
                    <a:pt x="894715" y="200279"/>
                    <a:pt x="894715" y="447421"/>
                  </a:cubicBezTo>
                  <a:cubicBezTo>
                    <a:pt x="894715" y="694563"/>
                    <a:pt x="694436" y="894715"/>
                    <a:pt x="447421" y="894715"/>
                  </a:cubicBezTo>
                  <a:cubicBezTo>
                    <a:pt x="200406" y="894715"/>
                    <a:pt x="0" y="694436"/>
                    <a:pt x="0" y="447421"/>
                  </a:cubicBezTo>
                  <a:close/>
                </a:path>
              </a:pathLst>
            </a:custGeom>
            <a:solidFill>
              <a:srgbClr val="2BA68E"/>
            </a:solidFill>
            <a:ln w="12700" cap="sq">
              <a:solidFill>
                <a:srgbClr val="2BA68E"/>
              </a:solidFill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894753" cy="90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2560320" y="8979408"/>
            <a:ext cx="8503920" cy="365760"/>
            <a:chOff x="0" y="0"/>
            <a:chExt cx="11338560" cy="4876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338560" cy="487680"/>
            </a:xfrm>
            <a:custGeom>
              <a:avLst/>
              <a:gdLst/>
              <a:ahLst/>
              <a:cxnLst/>
              <a:rect r="r" b="b" t="t" l="l"/>
              <a:pathLst>
                <a:path h="48768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3027" r="0" b="-40302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1133856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5"/>
                </a:lnSpc>
              </a:pPr>
              <a:r>
                <a:rPr lang="en-US" sz="2037" b="true">
                  <a:solidFill>
                    <a:srgbClr val="232F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Explainable audit ledger</a:t>
              </a: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2560320" y="9345168"/>
            <a:ext cx="85039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>
                <a:solidFill>
                  <a:srgbClr val="5C6984"/>
                </a:solidFill>
                <a:latin typeface="Open Sans"/>
                <a:ea typeface="Open Sans"/>
                <a:cs typeface="Open Sans"/>
                <a:sym typeface="Open Sans"/>
              </a:rPr>
              <a:t>Every comparison, rejection, approval, and action is permanently recorded.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9473184" y="1828800"/>
            <a:ext cx="1371600" cy="329184"/>
            <a:chOff x="0" y="0"/>
            <a:chExt cx="1828800" cy="43891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28800" cy="438912"/>
            </a:xfrm>
            <a:custGeom>
              <a:avLst/>
              <a:gdLst/>
              <a:ahLst/>
              <a:cxnLst/>
              <a:rect r="r" b="b" t="t" l="l"/>
              <a:pathLst>
                <a:path h="43891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182880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27"/>
                </a:lnSpc>
              </a:pPr>
              <a:r>
                <a:rPr lang="en-US" sz="1439" b="true">
                  <a:solidFill>
                    <a:srgbClr val="4984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PROCESS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473184" y="6181344"/>
            <a:ext cx="1371600" cy="329184"/>
            <a:chOff x="0" y="0"/>
            <a:chExt cx="1828800" cy="43891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828800" cy="438912"/>
            </a:xfrm>
            <a:custGeom>
              <a:avLst/>
              <a:gdLst/>
              <a:ahLst/>
              <a:cxnLst/>
              <a:rect r="r" b="b" t="t" l="l"/>
              <a:pathLst>
                <a:path h="43891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182880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27"/>
                </a:lnSpc>
              </a:pPr>
              <a:r>
                <a:rPr lang="en-US" sz="1439" b="true">
                  <a:solidFill>
                    <a:srgbClr val="EBA93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CONTROL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473184" y="7936992"/>
            <a:ext cx="1371600" cy="329184"/>
            <a:chOff x="0" y="0"/>
            <a:chExt cx="1828800" cy="43891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28800" cy="438912"/>
            </a:xfrm>
            <a:custGeom>
              <a:avLst/>
              <a:gdLst/>
              <a:ahLst/>
              <a:cxnLst/>
              <a:rect r="r" b="b" t="t" l="l"/>
              <a:pathLst>
                <a:path h="43891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182880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27"/>
                </a:lnSpc>
              </a:pPr>
              <a:r>
                <a:rPr lang="en-US" sz="1439" b="true">
                  <a:solidFill>
                    <a:srgbClr val="2BA68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EXECUTE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540233" y="1865881"/>
            <a:ext cx="5613397" cy="8228581"/>
            <a:chOff x="0" y="0"/>
            <a:chExt cx="7484529" cy="1097144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84491" cy="10971403"/>
            </a:xfrm>
            <a:custGeom>
              <a:avLst/>
              <a:gdLst/>
              <a:ahLst/>
              <a:cxnLst/>
              <a:rect r="r" b="b" t="t" l="l"/>
              <a:pathLst>
                <a:path h="10971403" w="7484491">
                  <a:moveTo>
                    <a:pt x="0" y="1247394"/>
                  </a:moveTo>
                  <a:cubicBezTo>
                    <a:pt x="0" y="558546"/>
                    <a:pt x="558546" y="0"/>
                    <a:pt x="1247394" y="0"/>
                  </a:cubicBezTo>
                  <a:lnTo>
                    <a:pt x="6237097" y="0"/>
                  </a:lnTo>
                  <a:cubicBezTo>
                    <a:pt x="6926072" y="0"/>
                    <a:pt x="7484491" y="558546"/>
                    <a:pt x="7484491" y="1247394"/>
                  </a:cubicBezTo>
                  <a:lnTo>
                    <a:pt x="7484491" y="9724009"/>
                  </a:lnTo>
                  <a:cubicBezTo>
                    <a:pt x="7484491" y="10412984"/>
                    <a:pt x="6925945" y="10971403"/>
                    <a:pt x="6237097" y="10971403"/>
                  </a:cubicBezTo>
                  <a:lnTo>
                    <a:pt x="1247394" y="10971403"/>
                  </a:lnTo>
                  <a:cubicBezTo>
                    <a:pt x="558546" y="10971403"/>
                    <a:pt x="0" y="10412984"/>
                    <a:pt x="0" y="9724009"/>
                  </a:cubicBezTo>
                  <a:close/>
                </a:path>
              </a:pathLst>
            </a:custGeom>
            <a:solidFill>
              <a:srgbClr val="F8FAFE"/>
            </a:solidFill>
            <a:ln w="35560" cap="sq">
              <a:solidFill>
                <a:srgbClr val="4984F2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1558016" y="1883664"/>
            <a:ext cx="5577840" cy="987552"/>
            <a:chOff x="0" y="0"/>
            <a:chExt cx="7437120" cy="131673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437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4371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217664" y="0"/>
                  </a:lnTo>
                  <a:cubicBezTo>
                    <a:pt x="7338822" y="0"/>
                    <a:pt x="7437120" y="98298"/>
                    <a:pt x="7437120" y="219456"/>
                  </a:cubicBezTo>
                  <a:lnTo>
                    <a:pt x="7437120" y="1097280"/>
                  </a:lnTo>
                  <a:cubicBezTo>
                    <a:pt x="7437120" y="1218438"/>
                    <a:pt x="7338822" y="1316736"/>
                    <a:pt x="7217664" y="1316736"/>
                  </a:cubicBezTo>
                  <a:lnTo>
                    <a:pt x="219456" y="1316736"/>
                  </a:lnTo>
                  <a:cubicBezTo>
                    <a:pt x="98298" y="1316736"/>
                    <a:pt x="0" y="1218438"/>
                    <a:pt x="0" y="1097280"/>
                  </a:cubicBezTo>
                  <a:close/>
                </a:path>
              </a:pathLst>
            </a:custGeom>
            <a:solidFill>
              <a:srgbClr val="4984F2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1923776" y="2029968"/>
            <a:ext cx="4846320" cy="402336"/>
            <a:chOff x="0" y="0"/>
            <a:chExt cx="6461760" cy="53644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461760" cy="536448"/>
            </a:xfrm>
            <a:custGeom>
              <a:avLst/>
              <a:gdLst/>
              <a:ahLst/>
              <a:cxnLst/>
              <a:rect r="r" b="b" t="t" l="l"/>
              <a:pathLst>
                <a:path h="53644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706" r="0" b="-18470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6461760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DECISION HIGHLIGHT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1923776" y="3127248"/>
            <a:ext cx="4846320" cy="548640"/>
            <a:chOff x="0" y="0"/>
            <a:chExt cx="6461760" cy="7315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461760" cy="731520"/>
            </a:xfrm>
            <a:custGeom>
              <a:avLst/>
              <a:gdLst/>
              <a:ahLst/>
              <a:cxnLst/>
              <a:rect r="r" b="b" t="t" l="l"/>
              <a:pathLst>
                <a:path h="7315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19050"/>
              <a:ext cx="64617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640" b="true">
                  <a:solidFill>
                    <a:srgbClr val="2B3E7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ProcuraAI’s Final Decision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1923776" y="3803904"/>
            <a:ext cx="4846320" cy="402336"/>
            <a:chOff x="0" y="0"/>
            <a:chExt cx="6461760" cy="53644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461760" cy="536448"/>
            </a:xfrm>
            <a:custGeom>
              <a:avLst/>
              <a:gdLst/>
              <a:ahLst/>
              <a:cxnLst/>
              <a:rect r="r" b="b" t="t" l="l"/>
              <a:pathLst>
                <a:path h="53644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706" r="0" b="-184706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646176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>
                  <a:solidFill>
                    <a:srgbClr val="5C6984"/>
                  </a:solidFill>
                  <a:latin typeface="Open Sans"/>
                  <a:ea typeface="Open Sans"/>
                  <a:cs typeface="Open Sans"/>
                  <a:sym typeface="Open Sans"/>
                </a:rPr>
                <a:t>Example procurement outcome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1913613" y="4397245"/>
            <a:ext cx="1757677" cy="568957"/>
            <a:chOff x="0" y="0"/>
            <a:chExt cx="2343569" cy="758609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343658" cy="758698"/>
            </a:xfrm>
            <a:custGeom>
              <a:avLst/>
              <a:gdLst/>
              <a:ahLst/>
              <a:cxnLst/>
              <a:rect r="r" b="b" t="t" l="l"/>
              <a:pathLst>
                <a:path h="758698" w="2343658">
                  <a:moveTo>
                    <a:pt x="0" y="126492"/>
                  </a:moveTo>
                  <a:cubicBezTo>
                    <a:pt x="0" y="56642"/>
                    <a:pt x="56642" y="0"/>
                    <a:pt x="126492" y="0"/>
                  </a:cubicBezTo>
                  <a:lnTo>
                    <a:pt x="2217166" y="0"/>
                  </a:lnTo>
                  <a:cubicBezTo>
                    <a:pt x="2287016" y="0"/>
                    <a:pt x="2343658" y="56642"/>
                    <a:pt x="2343658" y="126492"/>
                  </a:cubicBezTo>
                  <a:lnTo>
                    <a:pt x="2343658" y="632206"/>
                  </a:lnTo>
                  <a:cubicBezTo>
                    <a:pt x="2343658" y="702056"/>
                    <a:pt x="2287016" y="758698"/>
                    <a:pt x="2217166" y="758698"/>
                  </a:cubicBezTo>
                  <a:lnTo>
                    <a:pt x="126492" y="758698"/>
                  </a:lnTo>
                  <a:cubicBezTo>
                    <a:pt x="56642" y="758571"/>
                    <a:pt x="0" y="702056"/>
                    <a:pt x="0" y="632206"/>
                  </a:cubicBezTo>
                  <a:close/>
                </a:path>
              </a:pathLst>
            </a:custGeom>
            <a:solidFill>
              <a:srgbClr val="E8F8F4"/>
            </a:solidFill>
            <a:ln w="20320" cap="sq">
              <a:solidFill>
                <a:srgbClr val="2BA68E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11923776" y="4443984"/>
            <a:ext cx="1737360" cy="402336"/>
            <a:chOff x="0" y="0"/>
            <a:chExt cx="2316480" cy="5364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316480" cy="536448"/>
            </a:xfrm>
            <a:custGeom>
              <a:avLst/>
              <a:gdLst/>
              <a:ahLst/>
              <a:cxnLst/>
              <a:rect r="r" b="b" t="t" l="l"/>
              <a:pathLst>
                <a:path h="53644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139" r="0" b="-34139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2316480" cy="545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7"/>
                </a:lnSpc>
              </a:pPr>
              <a:r>
                <a:rPr lang="en-US" sz="1439" b="true">
                  <a:solidFill>
                    <a:srgbClr val="2BA68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LOW RISK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1923776" y="5230368"/>
            <a:ext cx="2231136" cy="329184"/>
            <a:chOff x="0" y="0"/>
            <a:chExt cx="2974848" cy="43891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974848" cy="438912"/>
            </a:xfrm>
            <a:custGeom>
              <a:avLst/>
              <a:gdLst/>
              <a:ahLst/>
              <a:cxnLst/>
              <a:rect r="r" b="b" t="t" l="l"/>
              <a:pathLst>
                <a:path h="438912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5" r="0" b="-82065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19050"/>
              <a:ext cx="2974848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9"/>
                </a:lnSpc>
              </a:pPr>
              <a:r>
                <a:rPr lang="en-US" sz="1299" b="true">
                  <a:solidFill>
                    <a:srgbClr val="5C698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SELECTED VENDOR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1923776" y="5559552"/>
            <a:ext cx="2231136" cy="457200"/>
            <a:chOff x="0" y="0"/>
            <a:chExt cx="2974848" cy="6096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974848" cy="609600"/>
            </a:xfrm>
            <a:custGeom>
              <a:avLst/>
              <a:gdLst/>
              <a:ahLst/>
              <a:cxnLst/>
              <a:rect r="r" b="b" t="t" l="l"/>
              <a:pathLst>
                <a:path h="60960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086" r="0" b="-45086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2974848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32F4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Vendor A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4484096" y="5230368"/>
            <a:ext cx="2231136" cy="329184"/>
            <a:chOff x="0" y="0"/>
            <a:chExt cx="2974848" cy="43891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974848" cy="438912"/>
            </a:xfrm>
            <a:custGeom>
              <a:avLst/>
              <a:gdLst/>
              <a:ahLst/>
              <a:cxnLst/>
              <a:rect r="r" b="b" t="t" l="l"/>
              <a:pathLst>
                <a:path h="438912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5" r="0" b="-82065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19050"/>
              <a:ext cx="2974848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9"/>
                </a:lnSpc>
              </a:pPr>
              <a:r>
                <a:rPr lang="en-US" sz="1299" b="true">
                  <a:solidFill>
                    <a:srgbClr val="5C698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TOTAL COST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4484096" y="5559552"/>
            <a:ext cx="2231136" cy="457200"/>
            <a:chOff x="0" y="0"/>
            <a:chExt cx="2974848" cy="6096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974848" cy="609600"/>
            </a:xfrm>
            <a:custGeom>
              <a:avLst/>
              <a:gdLst/>
              <a:ahLst/>
              <a:cxnLst/>
              <a:rect r="r" b="b" t="t" l="l"/>
              <a:pathLst>
                <a:path h="60960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086" r="0" b="-45086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0"/>
              <a:ext cx="2974848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32F4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₹4.2L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1923776" y="6291072"/>
            <a:ext cx="2231136" cy="329184"/>
            <a:chOff x="0" y="0"/>
            <a:chExt cx="2974848" cy="438912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974848" cy="438912"/>
            </a:xfrm>
            <a:custGeom>
              <a:avLst/>
              <a:gdLst/>
              <a:ahLst/>
              <a:cxnLst/>
              <a:rect r="r" b="b" t="t" l="l"/>
              <a:pathLst>
                <a:path h="438912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5" r="0" b="-82065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19050"/>
              <a:ext cx="2974848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9"/>
                </a:lnSpc>
              </a:pPr>
              <a:r>
                <a:rPr lang="en-US" sz="1299" b="true">
                  <a:solidFill>
                    <a:srgbClr val="5C698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DELIVERY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1923776" y="6620256"/>
            <a:ext cx="2231136" cy="457200"/>
            <a:chOff x="0" y="0"/>
            <a:chExt cx="2974848" cy="6096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974848" cy="609600"/>
            </a:xfrm>
            <a:custGeom>
              <a:avLst/>
              <a:gdLst/>
              <a:ahLst/>
              <a:cxnLst/>
              <a:rect r="r" b="b" t="t" l="l"/>
              <a:pathLst>
                <a:path h="60960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086" r="0" b="-45086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2974848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32F4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 Days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4484096" y="6291072"/>
            <a:ext cx="2231136" cy="329184"/>
            <a:chOff x="0" y="0"/>
            <a:chExt cx="2974848" cy="43891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974848" cy="438912"/>
            </a:xfrm>
            <a:custGeom>
              <a:avLst/>
              <a:gdLst/>
              <a:ahLst/>
              <a:cxnLst/>
              <a:rect r="r" b="b" t="t" l="l"/>
              <a:pathLst>
                <a:path h="438912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5" r="0" b="-82065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19050"/>
              <a:ext cx="2974848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9"/>
                </a:lnSpc>
              </a:pPr>
              <a:r>
                <a:rPr lang="en-US" sz="1299" b="true">
                  <a:solidFill>
                    <a:srgbClr val="5C698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RELIABILITY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4484096" y="6620256"/>
            <a:ext cx="2231136" cy="457200"/>
            <a:chOff x="0" y="0"/>
            <a:chExt cx="2974848" cy="6096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974848" cy="609600"/>
            </a:xfrm>
            <a:custGeom>
              <a:avLst/>
              <a:gdLst/>
              <a:ahLst/>
              <a:cxnLst/>
              <a:rect r="r" b="b" t="t" l="l"/>
              <a:pathLst>
                <a:path h="60960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086" r="0" b="-45086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0"/>
              <a:ext cx="2974848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32F4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94%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1923776" y="7370064"/>
            <a:ext cx="4846320" cy="18288"/>
            <a:chOff x="0" y="0"/>
            <a:chExt cx="6461760" cy="24384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461760" cy="24384"/>
            </a:xfrm>
            <a:custGeom>
              <a:avLst/>
              <a:gdLst/>
              <a:ahLst/>
              <a:cxnLst/>
              <a:rect r="r" b="b" t="t" l="l"/>
              <a:pathLst>
                <a:path h="24384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4384"/>
                  </a:lnTo>
                  <a:lnTo>
                    <a:pt x="0" y="24384"/>
                  </a:lnTo>
                  <a:close/>
                </a:path>
              </a:pathLst>
            </a:custGeom>
            <a:solidFill>
              <a:srgbClr val="D3DCEB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1923776" y="7699248"/>
            <a:ext cx="4846320" cy="365760"/>
            <a:chOff x="0" y="0"/>
            <a:chExt cx="6461760" cy="48768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461760" cy="487680"/>
            </a:xfrm>
            <a:custGeom>
              <a:avLst/>
              <a:gdLst/>
              <a:ahLst/>
              <a:cxnLst/>
              <a:rect r="r" b="b" t="t" l="l"/>
              <a:pathLst>
                <a:path h="4876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19050"/>
              <a:ext cx="646176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4984F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DECISION RATIONALE</a:t>
              </a:r>
            </a:p>
          </p:txBody>
        </p:sp>
      </p:grpSp>
      <p:sp>
        <p:nvSpPr>
          <p:cNvPr name="TextBox 146" id="146"/>
          <p:cNvSpPr txBox="true"/>
          <p:nvPr/>
        </p:nvSpPr>
        <p:spPr>
          <a:xfrm rot="0">
            <a:off x="11923776" y="8211312"/>
            <a:ext cx="4846320" cy="131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32F4B"/>
                </a:solidFill>
                <a:latin typeface="Open Sans"/>
                <a:ea typeface="Open Sans"/>
                <a:cs typeface="Open Sans"/>
                <a:sym typeface="Open Sans"/>
              </a:rPr>
              <a:t>Vendor A is selected because it satisfies all hard constraints, remains within policy, delivers in 5 days, and achieves the highest overall procurement score.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" y="548640"/>
            <a:ext cx="16276320" cy="694944"/>
            <a:chOff x="0" y="0"/>
            <a:chExt cx="21701760" cy="9265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01761" cy="926592"/>
            </a:xfrm>
            <a:custGeom>
              <a:avLst/>
              <a:gdLst/>
              <a:ahLst/>
              <a:cxnLst/>
              <a:rect r="r" b="b" t="t" l="l"/>
              <a:pathLst>
                <a:path h="926592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6360" r="0" b="-4063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70176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Agent Can Act — But Never Beyond Its Authority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2416" y="1353312"/>
            <a:ext cx="16093440" cy="512064"/>
            <a:chOff x="0" y="0"/>
            <a:chExt cx="214579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5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45792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1"/>
                </a:lnSpc>
              </a:pPr>
              <a:r>
                <a:rPr lang="en-US" sz="1659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A hard policy enforcement layer validates every procurement decision before execution.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6480">
            <a:off x="1027157" y="2043493"/>
            <a:ext cx="16233677" cy="0"/>
          </a:xfrm>
          <a:prstGeom prst="line">
            <a:avLst/>
          </a:prstGeom>
          <a:ln cap="rnd" w="9525">
            <a:solidFill>
              <a:srgbClr val="45CBB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21159" y="2693927"/>
            <a:ext cx="3957323" cy="1342139"/>
            <a:chOff x="0" y="0"/>
            <a:chExt cx="5276431" cy="17895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76342" cy="1789430"/>
            </a:xfrm>
            <a:custGeom>
              <a:avLst/>
              <a:gdLst/>
              <a:ahLst/>
              <a:cxnLst/>
              <a:rect r="r" b="b" t="t" l="l"/>
              <a:pathLst>
                <a:path h="1789430" w="5276342">
                  <a:moveTo>
                    <a:pt x="0" y="298196"/>
                  </a:moveTo>
                  <a:cubicBezTo>
                    <a:pt x="0" y="133477"/>
                    <a:pt x="133477" y="0"/>
                    <a:pt x="298196" y="0"/>
                  </a:cubicBezTo>
                  <a:lnTo>
                    <a:pt x="4978146" y="0"/>
                  </a:lnTo>
                  <a:cubicBezTo>
                    <a:pt x="5142865" y="0"/>
                    <a:pt x="5276342" y="133477"/>
                    <a:pt x="5276342" y="298196"/>
                  </a:cubicBezTo>
                  <a:lnTo>
                    <a:pt x="5276342" y="1491234"/>
                  </a:lnTo>
                  <a:cubicBezTo>
                    <a:pt x="5276342" y="1655953"/>
                    <a:pt x="5142865" y="1789430"/>
                    <a:pt x="4978146" y="1789430"/>
                  </a:cubicBezTo>
                  <a:lnTo>
                    <a:pt x="298196" y="1789430"/>
                  </a:lnTo>
                  <a:cubicBezTo>
                    <a:pt x="133477" y="1789557"/>
                    <a:pt x="0" y="1655953"/>
                    <a:pt x="0" y="1491234"/>
                  </a:cubicBezTo>
                  <a:close/>
                </a:path>
              </a:pathLst>
            </a:custGeom>
            <a:solidFill>
              <a:srgbClr val="F4F8F9"/>
            </a:solidFill>
            <a:ln w="25400" cap="sq">
              <a:solidFill>
                <a:srgbClr val="3478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499616" y="2926080"/>
            <a:ext cx="3200400" cy="365760"/>
            <a:chOff x="0" y="0"/>
            <a:chExt cx="4267200" cy="487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67200" cy="487680"/>
            </a:xfrm>
            <a:custGeom>
              <a:avLst/>
              <a:gdLst/>
              <a:ahLst/>
              <a:cxnLst/>
              <a:rect r="r" b="b" t="t" l="l"/>
              <a:pathLst>
                <a:path h="48768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4267200" cy="487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478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DECISION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99616" y="3438144"/>
            <a:ext cx="3200400" cy="329184"/>
            <a:chOff x="0" y="0"/>
            <a:chExt cx="4267200" cy="4389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67200" cy="438912"/>
            </a:xfrm>
            <a:custGeom>
              <a:avLst/>
              <a:gdLst/>
              <a:ahLst/>
              <a:cxnLst/>
              <a:rect r="r" b="b" t="t" l="l"/>
              <a:pathLst>
                <a:path h="43891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437" r="0" b="-13943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42672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Proposed procurement action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620007" y="2693927"/>
            <a:ext cx="4140203" cy="1342139"/>
            <a:chOff x="0" y="0"/>
            <a:chExt cx="5520271" cy="17895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201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5520182">
                  <a:moveTo>
                    <a:pt x="0" y="298196"/>
                  </a:moveTo>
                  <a:cubicBezTo>
                    <a:pt x="0" y="133477"/>
                    <a:pt x="133477" y="0"/>
                    <a:pt x="298196" y="0"/>
                  </a:cubicBezTo>
                  <a:lnTo>
                    <a:pt x="5221986" y="0"/>
                  </a:lnTo>
                  <a:cubicBezTo>
                    <a:pt x="5386705" y="0"/>
                    <a:pt x="5520182" y="133477"/>
                    <a:pt x="5520182" y="298196"/>
                  </a:cubicBezTo>
                  <a:lnTo>
                    <a:pt x="5520182" y="1491234"/>
                  </a:lnTo>
                  <a:cubicBezTo>
                    <a:pt x="5520182" y="1655953"/>
                    <a:pt x="5386705" y="1789430"/>
                    <a:pt x="5221986" y="1789430"/>
                  </a:cubicBezTo>
                  <a:lnTo>
                    <a:pt x="298196" y="1789430"/>
                  </a:lnTo>
                  <a:cubicBezTo>
                    <a:pt x="133477" y="1789557"/>
                    <a:pt x="0" y="1655953"/>
                    <a:pt x="0" y="1491234"/>
                  </a:cubicBezTo>
                  <a:close/>
                </a:path>
              </a:pathLst>
            </a:custGeom>
            <a:solidFill>
              <a:srgbClr val="F0FBF8"/>
            </a:solidFill>
            <a:ln w="25400" cap="sq">
              <a:solidFill>
                <a:srgbClr val="E09B2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925312" y="2907792"/>
            <a:ext cx="3511296" cy="365760"/>
            <a:chOff x="0" y="0"/>
            <a:chExt cx="4681728" cy="487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81728" cy="487680"/>
            </a:xfrm>
            <a:custGeom>
              <a:avLst/>
              <a:gdLst/>
              <a:ahLst/>
              <a:cxnLst/>
              <a:rect r="r" b="b" t="t" l="l"/>
              <a:pathLst>
                <a:path h="487680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681728" cy="487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4"/>
                </a:lnSpc>
              </a:pPr>
              <a:r>
                <a:rPr lang="en-US" sz="1620" b="true">
                  <a:solidFill>
                    <a:srgbClr val="20AB8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AUTHORIZATION FIREWALL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925312" y="3401568"/>
            <a:ext cx="3511296" cy="329184"/>
            <a:chOff x="0" y="0"/>
            <a:chExt cx="4681728" cy="4389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81728" cy="438912"/>
            </a:xfrm>
            <a:custGeom>
              <a:avLst/>
              <a:gdLst/>
              <a:ahLst/>
              <a:cxnLst/>
              <a:rect r="r" b="b" t="t" l="l"/>
              <a:pathLst>
                <a:path h="438912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4681728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31"/>
                </a:lnSpc>
              </a:pPr>
              <a:r>
                <a:rPr lang="en-US" sz="1359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Independent policy engine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256080">
            <a:off x="5042068" y="3355467"/>
            <a:ext cx="614353" cy="0"/>
          </a:xfrm>
          <a:prstGeom prst="line">
            <a:avLst/>
          </a:prstGeom>
          <a:ln cap="rnd" w="19050">
            <a:solidFill>
              <a:srgbClr val="3478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206819">
            <a:off x="9723958" y="3355467"/>
            <a:ext cx="760324" cy="0"/>
          </a:xfrm>
          <a:prstGeom prst="line">
            <a:avLst/>
          </a:prstGeom>
          <a:ln cap="rnd" w="19050">
            <a:solidFill>
              <a:srgbClr val="E09B2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0515600" y="2798064"/>
            <a:ext cx="2651760" cy="402336"/>
            <a:chOff x="0" y="0"/>
            <a:chExt cx="3535680" cy="5364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3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53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65"/>
                </a:lnSpc>
              </a:pPr>
              <a:r>
                <a:rPr lang="en-US" sz="1638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WITHIN POLICY?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137143" y="3827783"/>
            <a:ext cx="1890779" cy="1598171"/>
            <a:chOff x="0" y="0"/>
            <a:chExt cx="2521039" cy="213089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21077" cy="2130933"/>
            </a:xfrm>
            <a:custGeom>
              <a:avLst/>
              <a:gdLst/>
              <a:ahLst/>
              <a:cxnLst/>
              <a:rect r="r" b="b" t="t" l="l"/>
              <a:pathLst>
                <a:path h="2130933" w="2521077">
                  <a:moveTo>
                    <a:pt x="0" y="355219"/>
                  </a:moveTo>
                  <a:cubicBezTo>
                    <a:pt x="0" y="159004"/>
                    <a:pt x="159004" y="0"/>
                    <a:pt x="355219" y="0"/>
                  </a:cubicBezTo>
                  <a:lnTo>
                    <a:pt x="2165858" y="0"/>
                  </a:lnTo>
                  <a:cubicBezTo>
                    <a:pt x="2361946" y="0"/>
                    <a:pt x="2521077" y="159004"/>
                    <a:pt x="2521077" y="355219"/>
                  </a:cubicBezTo>
                  <a:lnTo>
                    <a:pt x="2521077" y="1775714"/>
                  </a:lnTo>
                  <a:cubicBezTo>
                    <a:pt x="2521077" y="1971802"/>
                    <a:pt x="2362073" y="2130933"/>
                    <a:pt x="2165858" y="2130933"/>
                  </a:cubicBezTo>
                  <a:lnTo>
                    <a:pt x="355219" y="2130933"/>
                  </a:lnTo>
                  <a:cubicBezTo>
                    <a:pt x="159004" y="2130933"/>
                    <a:pt x="0" y="1971929"/>
                    <a:pt x="0" y="177571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0AB8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296144" y="4114800"/>
            <a:ext cx="1572768" cy="329184"/>
            <a:chOff x="0" y="0"/>
            <a:chExt cx="2097024" cy="4389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97024" cy="438912"/>
            </a:xfrm>
            <a:custGeom>
              <a:avLst/>
              <a:gdLst/>
              <a:ahLst/>
              <a:cxnLst/>
              <a:rect r="r" b="b" t="t" l="l"/>
              <a:pathLst>
                <a:path h="438912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097024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20AB8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ALLOW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96144" y="4663440"/>
            <a:ext cx="1572768" cy="548640"/>
            <a:chOff x="0" y="0"/>
            <a:chExt cx="2097024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97024" cy="731520"/>
            </a:xfrm>
            <a:custGeom>
              <a:avLst/>
              <a:gdLst/>
              <a:ahLst/>
              <a:cxnLst/>
              <a:rect r="r" b="b" t="t" l="l"/>
              <a:pathLst>
                <a:path h="731520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57" r="0" b="-585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097024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Execute automatically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9757260">
            <a:off x="11048190" y="3725990"/>
            <a:ext cx="836771" cy="0"/>
          </a:xfrm>
          <a:prstGeom prst="line">
            <a:avLst/>
          </a:prstGeom>
          <a:ln cap="rnd" w="9525">
            <a:solidFill>
              <a:srgbClr val="20AB8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2276839" y="3827783"/>
            <a:ext cx="1890779" cy="1598171"/>
            <a:chOff x="0" y="0"/>
            <a:chExt cx="2521039" cy="213089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21077" cy="2130933"/>
            </a:xfrm>
            <a:custGeom>
              <a:avLst/>
              <a:gdLst/>
              <a:ahLst/>
              <a:cxnLst/>
              <a:rect r="r" b="b" t="t" l="l"/>
              <a:pathLst>
                <a:path h="2130933" w="2521077">
                  <a:moveTo>
                    <a:pt x="0" y="355219"/>
                  </a:moveTo>
                  <a:cubicBezTo>
                    <a:pt x="0" y="159004"/>
                    <a:pt x="159004" y="0"/>
                    <a:pt x="355219" y="0"/>
                  </a:cubicBezTo>
                  <a:lnTo>
                    <a:pt x="2165858" y="0"/>
                  </a:lnTo>
                  <a:cubicBezTo>
                    <a:pt x="2361946" y="0"/>
                    <a:pt x="2521077" y="159004"/>
                    <a:pt x="2521077" y="355219"/>
                  </a:cubicBezTo>
                  <a:lnTo>
                    <a:pt x="2521077" y="1775714"/>
                  </a:lnTo>
                  <a:cubicBezTo>
                    <a:pt x="2521077" y="1971802"/>
                    <a:pt x="2362073" y="2130933"/>
                    <a:pt x="2165858" y="2130933"/>
                  </a:cubicBezTo>
                  <a:lnTo>
                    <a:pt x="355219" y="2130933"/>
                  </a:lnTo>
                  <a:cubicBezTo>
                    <a:pt x="159004" y="2130933"/>
                    <a:pt x="0" y="1971929"/>
                    <a:pt x="0" y="177571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09B2A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435840" y="4114800"/>
            <a:ext cx="1572768" cy="329184"/>
            <a:chOff x="0" y="0"/>
            <a:chExt cx="2097024" cy="4389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97024" cy="438912"/>
            </a:xfrm>
            <a:custGeom>
              <a:avLst/>
              <a:gdLst/>
              <a:ahLst/>
              <a:cxnLst/>
              <a:rect r="r" b="b" t="t" l="l"/>
              <a:pathLst>
                <a:path h="438912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097024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E09B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ESCALATE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35840" y="4663440"/>
            <a:ext cx="1572768" cy="548640"/>
            <a:chOff x="0" y="0"/>
            <a:chExt cx="2097024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97024" cy="731520"/>
            </a:xfrm>
            <a:custGeom>
              <a:avLst/>
              <a:gdLst/>
              <a:ahLst/>
              <a:cxnLst/>
              <a:rect r="r" b="b" t="t" l="l"/>
              <a:pathLst>
                <a:path h="731520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57" r="0" b="-585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097024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Human approval required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606419">
            <a:off x="11824335" y="3725990"/>
            <a:ext cx="1424178" cy="0"/>
          </a:xfrm>
          <a:prstGeom prst="line">
            <a:avLst/>
          </a:prstGeom>
          <a:ln cap="rnd" w="9525">
            <a:solidFill>
              <a:srgbClr val="E09B2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4416535" y="3827783"/>
            <a:ext cx="1890779" cy="1598171"/>
            <a:chOff x="0" y="0"/>
            <a:chExt cx="2521039" cy="213089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21077" cy="2130933"/>
            </a:xfrm>
            <a:custGeom>
              <a:avLst/>
              <a:gdLst/>
              <a:ahLst/>
              <a:cxnLst/>
              <a:rect r="r" b="b" t="t" l="l"/>
              <a:pathLst>
                <a:path h="2130933" w="2521077">
                  <a:moveTo>
                    <a:pt x="0" y="355219"/>
                  </a:moveTo>
                  <a:cubicBezTo>
                    <a:pt x="0" y="159004"/>
                    <a:pt x="159004" y="0"/>
                    <a:pt x="355219" y="0"/>
                  </a:cubicBezTo>
                  <a:lnTo>
                    <a:pt x="2165858" y="0"/>
                  </a:lnTo>
                  <a:cubicBezTo>
                    <a:pt x="2361946" y="0"/>
                    <a:pt x="2521077" y="159004"/>
                    <a:pt x="2521077" y="355219"/>
                  </a:cubicBezTo>
                  <a:lnTo>
                    <a:pt x="2521077" y="1775714"/>
                  </a:lnTo>
                  <a:cubicBezTo>
                    <a:pt x="2521077" y="1971802"/>
                    <a:pt x="2362073" y="2130933"/>
                    <a:pt x="2165858" y="2130933"/>
                  </a:cubicBezTo>
                  <a:lnTo>
                    <a:pt x="355219" y="2130933"/>
                  </a:lnTo>
                  <a:cubicBezTo>
                    <a:pt x="159004" y="2130933"/>
                    <a:pt x="0" y="1971929"/>
                    <a:pt x="0" y="177571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34C5B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575536" y="4114800"/>
            <a:ext cx="1572768" cy="329184"/>
            <a:chOff x="0" y="0"/>
            <a:chExt cx="2097024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97024" cy="438912"/>
            </a:xfrm>
            <a:custGeom>
              <a:avLst/>
              <a:gdLst/>
              <a:ahLst/>
              <a:cxnLst/>
              <a:rect r="r" b="b" t="t" l="l"/>
              <a:pathLst>
                <a:path h="438912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097024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D34C5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BLOCK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575536" y="4663440"/>
            <a:ext cx="1572768" cy="548640"/>
            <a:chOff x="0" y="0"/>
            <a:chExt cx="2097024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97024" cy="731520"/>
            </a:xfrm>
            <a:custGeom>
              <a:avLst/>
              <a:gdLst/>
              <a:ahLst/>
              <a:cxnLst/>
              <a:rect r="r" b="b" t="t" l="l"/>
              <a:pathLst>
                <a:path h="731520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57" r="0" b="-585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2097024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Policy violation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 rot="242220">
            <a:off x="11830983" y="3725990"/>
            <a:ext cx="3550587" cy="0"/>
          </a:xfrm>
          <a:prstGeom prst="line">
            <a:avLst/>
          </a:prstGeom>
          <a:ln cap="rnd" w="9525">
            <a:solidFill>
              <a:srgbClr val="D34C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0">
            <a:off x="1133856" y="5943600"/>
            <a:ext cx="7315200" cy="329184"/>
            <a:chOff x="0" y="0"/>
            <a:chExt cx="9753600" cy="43891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753600" cy="438912"/>
            </a:xfrm>
            <a:custGeom>
              <a:avLst/>
              <a:gdLst/>
              <a:ahLst/>
              <a:cxnLst/>
              <a:rect r="r" b="b" t="t" l="l"/>
              <a:pathLst>
                <a:path h="43891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7536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4"/>
                </a:lnSpc>
              </a:pPr>
              <a:r>
                <a:rPr lang="en-US" sz="1520" b="true">
                  <a:solidFill>
                    <a:srgbClr val="20AB8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CONFIGURABLE POLICY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21159" y="6479543"/>
            <a:ext cx="3737858" cy="1012955"/>
            <a:chOff x="0" y="0"/>
            <a:chExt cx="4983810" cy="135060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983734" cy="1350518"/>
            </a:xfrm>
            <a:custGeom>
              <a:avLst/>
              <a:gdLst/>
              <a:ahLst/>
              <a:cxnLst/>
              <a:rect r="r" b="b" t="t" l="l"/>
              <a:pathLst>
                <a:path h="1350518" w="4983734">
                  <a:moveTo>
                    <a:pt x="0" y="225044"/>
                  </a:moveTo>
                  <a:cubicBezTo>
                    <a:pt x="0" y="100838"/>
                    <a:pt x="100838" y="0"/>
                    <a:pt x="225044" y="0"/>
                  </a:cubicBezTo>
                  <a:lnTo>
                    <a:pt x="4758690" y="0"/>
                  </a:lnTo>
                  <a:cubicBezTo>
                    <a:pt x="4883023" y="0"/>
                    <a:pt x="4983734" y="100838"/>
                    <a:pt x="4983734" y="225044"/>
                  </a:cubicBezTo>
                  <a:lnTo>
                    <a:pt x="4983734" y="1125474"/>
                  </a:lnTo>
                  <a:cubicBezTo>
                    <a:pt x="4983734" y="1249807"/>
                    <a:pt x="4882896" y="1350518"/>
                    <a:pt x="4758690" y="1350518"/>
                  </a:cubicBezTo>
                  <a:lnTo>
                    <a:pt x="225044" y="1350518"/>
                  </a:lnTo>
                  <a:cubicBezTo>
                    <a:pt x="100838" y="1350645"/>
                    <a:pt x="0" y="1249807"/>
                    <a:pt x="0" y="1125474"/>
                  </a:cubicBezTo>
                  <a:close/>
                </a:path>
              </a:pathLst>
            </a:custGeom>
            <a:solidFill>
              <a:srgbClr val="F4F8F9"/>
            </a:solidFill>
            <a:ln w="25400" cap="sq">
              <a:solidFill>
                <a:srgbClr val="3478EB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353312" y="6638544"/>
            <a:ext cx="3255264" cy="292608"/>
            <a:chOff x="0" y="0"/>
            <a:chExt cx="4340352" cy="39014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340352" cy="390144"/>
            </a:xfrm>
            <a:custGeom>
              <a:avLst/>
              <a:gdLst/>
              <a:ahLst/>
              <a:cxnLst/>
              <a:rect r="r" b="b" t="t" l="l"/>
              <a:pathLst>
                <a:path h="390144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771" r="0" b="-16677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4340352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3"/>
                </a:lnSpc>
              </a:pPr>
              <a:r>
                <a:rPr lang="en-US" sz="1419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Budget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53312" y="7022592"/>
            <a:ext cx="3255264" cy="274320"/>
            <a:chOff x="0" y="0"/>
            <a:chExt cx="4340352" cy="3657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340352" cy="365760"/>
            </a:xfrm>
            <a:custGeom>
              <a:avLst/>
              <a:gdLst/>
              <a:ahLst/>
              <a:cxnLst/>
              <a:rect r="r" b="b" t="t" l="l"/>
              <a:pathLst>
                <a:path h="36576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4340352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64"/>
                </a:lnSpc>
              </a:pPr>
              <a:r>
                <a:rPr lang="en-US" sz="1220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Auto ≤ ₹4.25L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181095" y="6479543"/>
            <a:ext cx="3737858" cy="1012955"/>
            <a:chOff x="0" y="0"/>
            <a:chExt cx="4983810" cy="135060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983734" cy="1350518"/>
            </a:xfrm>
            <a:custGeom>
              <a:avLst/>
              <a:gdLst/>
              <a:ahLst/>
              <a:cxnLst/>
              <a:rect r="r" b="b" t="t" l="l"/>
              <a:pathLst>
                <a:path h="1350518" w="4983734">
                  <a:moveTo>
                    <a:pt x="0" y="225044"/>
                  </a:moveTo>
                  <a:cubicBezTo>
                    <a:pt x="0" y="100838"/>
                    <a:pt x="100838" y="0"/>
                    <a:pt x="225044" y="0"/>
                  </a:cubicBezTo>
                  <a:lnTo>
                    <a:pt x="4758690" y="0"/>
                  </a:lnTo>
                  <a:cubicBezTo>
                    <a:pt x="4883023" y="0"/>
                    <a:pt x="4983734" y="100838"/>
                    <a:pt x="4983734" y="225044"/>
                  </a:cubicBezTo>
                  <a:lnTo>
                    <a:pt x="4983734" y="1125474"/>
                  </a:lnTo>
                  <a:cubicBezTo>
                    <a:pt x="4983734" y="1249807"/>
                    <a:pt x="4882896" y="1350518"/>
                    <a:pt x="4758690" y="1350518"/>
                  </a:cubicBezTo>
                  <a:lnTo>
                    <a:pt x="225044" y="1350518"/>
                  </a:lnTo>
                  <a:cubicBezTo>
                    <a:pt x="100838" y="1350645"/>
                    <a:pt x="0" y="1249807"/>
                    <a:pt x="0" y="1125474"/>
                  </a:cubicBezTo>
                  <a:close/>
                </a:path>
              </a:pathLst>
            </a:custGeom>
            <a:solidFill>
              <a:srgbClr val="F4F8F9"/>
            </a:solidFill>
            <a:ln w="25400" cap="sq">
              <a:solidFill>
                <a:srgbClr val="20AB8F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5413248" y="6638544"/>
            <a:ext cx="3255264" cy="292608"/>
            <a:chOff x="0" y="0"/>
            <a:chExt cx="4340352" cy="39014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340352" cy="390144"/>
            </a:xfrm>
            <a:custGeom>
              <a:avLst/>
              <a:gdLst/>
              <a:ahLst/>
              <a:cxnLst/>
              <a:rect r="r" b="b" t="t" l="l"/>
              <a:pathLst>
                <a:path h="390144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771" r="0" b="-16677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4340352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3"/>
                </a:lnSpc>
              </a:pPr>
              <a:r>
                <a:rPr lang="en-US" sz="1419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Reliability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413248" y="7022592"/>
            <a:ext cx="3255264" cy="274320"/>
            <a:chOff x="0" y="0"/>
            <a:chExt cx="4340352" cy="3657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340352" cy="365760"/>
            </a:xfrm>
            <a:custGeom>
              <a:avLst/>
              <a:gdLst/>
              <a:ahLst/>
              <a:cxnLst/>
              <a:rect r="r" b="b" t="t" l="l"/>
              <a:pathLst>
                <a:path h="36576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4340352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64"/>
                </a:lnSpc>
              </a:pPr>
              <a:r>
                <a:rPr lang="en-US" sz="1220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Minimum 85%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21159" y="7723118"/>
            <a:ext cx="3737858" cy="1012955"/>
            <a:chOff x="0" y="0"/>
            <a:chExt cx="4983810" cy="135060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983734" cy="1350518"/>
            </a:xfrm>
            <a:custGeom>
              <a:avLst/>
              <a:gdLst/>
              <a:ahLst/>
              <a:cxnLst/>
              <a:rect r="r" b="b" t="t" l="l"/>
              <a:pathLst>
                <a:path h="1350518" w="4983734">
                  <a:moveTo>
                    <a:pt x="0" y="225044"/>
                  </a:moveTo>
                  <a:cubicBezTo>
                    <a:pt x="0" y="100838"/>
                    <a:pt x="100838" y="0"/>
                    <a:pt x="225044" y="0"/>
                  </a:cubicBezTo>
                  <a:lnTo>
                    <a:pt x="4758690" y="0"/>
                  </a:lnTo>
                  <a:cubicBezTo>
                    <a:pt x="4883023" y="0"/>
                    <a:pt x="4983734" y="100838"/>
                    <a:pt x="4983734" y="225044"/>
                  </a:cubicBezTo>
                  <a:lnTo>
                    <a:pt x="4983734" y="1125474"/>
                  </a:lnTo>
                  <a:cubicBezTo>
                    <a:pt x="4983734" y="1249807"/>
                    <a:pt x="4882896" y="1350518"/>
                    <a:pt x="4758690" y="1350518"/>
                  </a:cubicBezTo>
                  <a:lnTo>
                    <a:pt x="225044" y="1350518"/>
                  </a:lnTo>
                  <a:cubicBezTo>
                    <a:pt x="100838" y="1350645"/>
                    <a:pt x="0" y="1249807"/>
                    <a:pt x="0" y="1125474"/>
                  </a:cubicBezTo>
                  <a:close/>
                </a:path>
              </a:pathLst>
            </a:custGeom>
            <a:solidFill>
              <a:srgbClr val="F4F8F9"/>
            </a:solidFill>
            <a:ln w="25400" cap="sq">
              <a:solidFill>
                <a:srgbClr val="7E5CD2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353312" y="7882128"/>
            <a:ext cx="3255264" cy="292608"/>
            <a:chOff x="0" y="0"/>
            <a:chExt cx="4340352" cy="39014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340352" cy="390144"/>
            </a:xfrm>
            <a:custGeom>
              <a:avLst/>
              <a:gdLst/>
              <a:ahLst/>
              <a:cxnLst/>
              <a:rect r="r" b="b" t="t" l="l"/>
              <a:pathLst>
                <a:path h="390144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771" r="0" b="-16677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4340352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3"/>
                </a:lnSpc>
              </a:pPr>
              <a:r>
                <a:rPr lang="en-US" sz="1419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Category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53312" y="8266176"/>
            <a:ext cx="3255264" cy="274320"/>
            <a:chOff x="0" y="0"/>
            <a:chExt cx="4340352" cy="3657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340352" cy="365760"/>
            </a:xfrm>
            <a:custGeom>
              <a:avLst/>
              <a:gdLst/>
              <a:ahLst/>
              <a:cxnLst/>
              <a:rect r="r" b="b" t="t" l="l"/>
              <a:pathLst>
                <a:path h="36576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4340352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64"/>
                </a:lnSpc>
              </a:pPr>
              <a:r>
                <a:rPr lang="en-US" sz="1220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Allowed product types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5181095" y="7723118"/>
            <a:ext cx="3737858" cy="1012955"/>
            <a:chOff x="0" y="0"/>
            <a:chExt cx="4983810" cy="135060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983734" cy="1350518"/>
            </a:xfrm>
            <a:custGeom>
              <a:avLst/>
              <a:gdLst/>
              <a:ahLst/>
              <a:cxnLst/>
              <a:rect r="r" b="b" t="t" l="l"/>
              <a:pathLst>
                <a:path h="1350518" w="4983734">
                  <a:moveTo>
                    <a:pt x="0" y="225044"/>
                  </a:moveTo>
                  <a:cubicBezTo>
                    <a:pt x="0" y="100838"/>
                    <a:pt x="100838" y="0"/>
                    <a:pt x="225044" y="0"/>
                  </a:cubicBezTo>
                  <a:lnTo>
                    <a:pt x="4758690" y="0"/>
                  </a:lnTo>
                  <a:cubicBezTo>
                    <a:pt x="4883023" y="0"/>
                    <a:pt x="4983734" y="100838"/>
                    <a:pt x="4983734" y="225044"/>
                  </a:cubicBezTo>
                  <a:lnTo>
                    <a:pt x="4983734" y="1125474"/>
                  </a:lnTo>
                  <a:cubicBezTo>
                    <a:pt x="4983734" y="1249807"/>
                    <a:pt x="4882896" y="1350518"/>
                    <a:pt x="4758690" y="1350518"/>
                  </a:cubicBezTo>
                  <a:lnTo>
                    <a:pt x="225044" y="1350518"/>
                  </a:lnTo>
                  <a:cubicBezTo>
                    <a:pt x="100838" y="1350645"/>
                    <a:pt x="0" y="1249807"/>
                    <a:pt x="0" y="1125474"/>
                  </a:cubicBezTo>
                  <a:close/>
                </a:path>
              </a:pathLst>
            </a:custGeom>
            <a:solidFill>
              <a:srgbClr val="F4F8F9"/>
            </a:solidFill>
            <a:ln w="25400" cap="sq">
              <a:solidFill>
                <a:srgbClr val="E09B2A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5413248" y="7882128"/>
            <a:ext cx="3255264" cy="292608"/>
            <a:chOff x="0" y="0"/>
            <a:chExt cx="4340352" cy="39014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340352" cy="390144"/>
            </a:xfrm>
            <a:custGeom>
              <a:avLst/>
              <a:gdLst/>
              <a:ahLst/>
              <a:cxnLst/>
              <a:rect r="r" b="b" t="t" l="l"/>
              <a:pathLst>
                <a:path h="390144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771" r="0" b="-166771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4340352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3"/>
                </a:lnSpc>
              </a:pPr>
              <a:r>
                <a:rPr lang="en-US" sz="1419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Quantity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413248" y="8266176"/>
            <a:ext cx="3255264" cy="274320"/>
            <a:chOff x="0" y="0"/>
            <a:chExt cx="4340352" cy="3657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340352" cy="365760"/>
            </a:xfrm>
            <a:custGeom>
              <a:avLst/>
              <a:gdLst/>
              <a:ahLst/>
              <a:cxnLst/>
              <a:rect r="r" b="b" t="t" l="l"/>
              <a:pathLst>
                <a:path h="36576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4340352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64"/>
                </a:lnSpc>
              </a:pPr>
              <a:r>
                <a:rPr lang="en-US" sz="1220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Bulk purchase validation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21159" y="8966711"/>
            <a:ext cx="3737858" cy="1012955"/>
            <a:chOff x="0" y="0"/>
            <a:chExt cx="4983810" cy="135060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983734" cy="1350518"/>
            </a:xfrm>
            <a:custGeom>
              <a:avLst/>
              <a:gdLst/>
              <a:ahLst/>
              <a:cxnLst/>
              <a:rect r="r" b="b" t="t" l="l"/>
              <a:pathLst>
                <a:path h="1350518" w="4983734">
                  <a:moveTo>
                    <a:pt x="0" y="225044"/>
                  </a:moveTo>
                  <a:cubicBezTo>
                    <a:pt x="0" y="100838"/>
                    <a:pt x="100838" y="0"/>
                    <a:pt x="225044" y="0"/>
                  </a:cubicBezTo>
                  <a:lnTo>
                    <a:pt x="4758690" y="0"/>
                  </a:lnTo>
                  <a:cubicBezTo>
                    <a:pt x="4883023" y="0"/>
                    <a:pt x="4983734" y="100838"/>
                    <a:pt x="4983734" y="225044"/>
                  </a:cubicBezTo>
                  <a:lnTo>
                    <a:pt x="4983734" y="1125474"/>
                  </a:lnTo>
                  <a:cubicBezTo>
                    <a:pt x="4983734" y="1249807"/>
                    <a:pt x="4882896" y="1350518"/>
                    <a:pt x="4758690" y="1350518"/>
                  </a:cubicBezTo>
                  <a:lnTo>
                    <a:pt x="225044" y="1350518"/>
                  </a:lnTo>
                  <a:cubicBezTo>
                    <a:pt x="100838" y="1350645"/>
                    <a:pt x="0" y="1249807"/>
                    <a:pt x="0" y="1125474"/>
                  </a:cubicBezTo>
                  <a:close/>
                </a:path>
              </a:pathLst>
            </a:custGeom>
            <a:solidFill>
              <a:srgbClr val="F4F8F9"/>
            </a:solidFill>
            <a:ln w="25400" cap="sq">
              <a:solidFill>
                <a:srgbClr val="3478EB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353312" y="9125712"/>
            <a:ext cx="3255264" cy="292608"/>
            <a:chOff x="0" y="0"/>
            <a:chExt cx="4340352" cy="39014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340352" cy="390144"/>
            </a:xfrm>
            <a:custGeom>
              <a:avLst/>
              <a:gdLst/>
              <a:ahLst/>
              <a:cxnLst/>
              <a:rect r="r" b="b" t="t" l="l"/>
              <a:pathLst>
                <a:path h="390144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771" r="0" b="-166771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4340352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3"/>
                </a:lnSpc>
              </a:pPr>
              <a:r>
                <a:rPr lang="en-US" sz="1419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Negotiation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353312" y="9509760"/>
            <a:ext cx="3255264" cy="274320"/>
            <a:chOff x="0" y="0"/>
            <a:chExt cx="4340352" cy="3657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340352" cy="365760"/>
            </a:xfrm>
            <a:custGeom>
              <a:avLst/>
              <a:gdLst/>
              <a:ahLst/>
              <a:cxnLst/>
              <a:rect r="r" b="b" t="t" l="l"/>
              <a:pathLst>
                <a:path h="36576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4340352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64"/>
                </a:lnSpc>
              </a:pPr>
              <a:r>
                <a:rPr lang="en-US" sz="1220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Within predefined tolerance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0137143" y="6479543"/>
            <a:ext cx="7029707" cy="2366267"/>
            <a:chOff x="0" y="0"/>
            <a:chExt cx="9372943" cy="315502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372981" cy="3155061"/>
            </a:xfrm>
            <a:custGeom>
              <a:avLst/>
              <a:gdLst/>
              <a:ahLst/>
              <a:cxnLst/>
              <a:rect r="r" b="b" t="t" l="l"/>
              <a:pathLst>
                <a:path h="3155061" w="9372981">
                  <a:moveTo>
                    <a:pt x="0" y="525907"/>
                  </a:moveTo>
                  <a:cubicBezTo>
                    <a:pt x="0" y="235458"/>
                    <a:pt x="235458" y="0"/>
                    <a:pt x="525907" y="0"/>
                  </a:cubicBezTo>
                  <a:lnTo>
                    <a:pt x="8847074" y="0"/>
                  </a:lnTo>
                  <a:cubicBezTo>
                    <a:pt x="9137523" y="0"/>
                    <a:pt x="9372981" y="235458"/>
                    <a:pt x="9372981" y="525907"/>
                  </a:cubicBezTo>
                  <a:lnTo>
                    <a:pt x="9372981" y="2629154"/>
                  </a:lnTo>
                  <a:cubicBezTo>
                    <a:pt x="9372981" y="2919603"/>
                    <a:pt x="9137523" y="3155061"/>
                    <a:pt x="8847074" y="3155061"/>
                  </a:cubicBezTo>
                  <a:lnTo>
                    <a:pt x="525907" y="3155061"/>
                  </a:lnTo>
                  <a:cubicBezTo>
                    <a:pt x="235458" y="3155061"/>
                    <a:pt x="0" y="2919603"/>
                    <a:pt x="0" y="2629154"/>
                  </a:cubicBezTo>
                  <a:close/>
                </a:path>
              </a:pathLst>
            </a:custGeom>
            <a:solidFill>
              <a:srgbClr val="F0FBF8"/>
            </a:solidFill>
            <a:ln w="25400" cap="sq">
              <a:solidFill>
                <a:srgbClr val="20AB8F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515600" y="6766560"/>
            <a:ext cx="6272784" cy="329184"/>
            <a:chOff x="0" y="0"/>
            <a:chExt cx="8363712" cy="43891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363712" cy="438912"/>
            </a:xfrm>
            <a:custGeom>
              <a:avLst/>
              <a:gdLst/>
              <a:ahLst/>
              <a:cxnLst/>
              <a:rect r="r" b="b" t="t" l="l"/>
              <a:pathLst>
                <a:path h="438912" w="8363712">
                  <a:moveTo>
                    <a:pt x="0" y="0"/>
                  </a:moveTo>
                  <a:lnTo>
                    <a:pt x="8363712" y="0"/>
                  </a:lnTo>
                  <a:lnTo>
                    <a:pt x="83637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1298" r="0" b="-321298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8363712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2"/>
                </a:lnSpc>
              </a:pPr>
              <a:r>
                <a:rPr lang="en-US" sz="1460" b="true">
                  <a:solidFill>
                    <a:srgbClr val="20AB8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EXAMPLE · LAPTOP PROCUREMENT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515600" y="7370064"/>
            <a:ext cx="6272784" cy="457200"/>
            <a:chOff x="0" y="0"/>
            <a:chExt cx="8363712" cy="6096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363712" cy="609600"/>
            </a:xfrm>
            <a:custGeom>
              <a:avLst/>
              <a:gdLst/>
              <a:ahLst/>
              <a:cxnLst/>
              <a:rect r="r" b="b" t="t" l="l"/>
              <a:pathLst>
                <a:path h="609600" w="8363712">
                  <a:moveTo>
                    <a:pt x="0" y="0"/>
                  </a:moveTo>
                  <a:lnTo>
                    <a:pt x="8363712" y="0"/>
                  </a:lnTo>
                  <a:lnTo>
                    <a:pt x="836371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334" r="0" b="-217334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8363712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F273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₹4.2L   •   94%   •   ALLOW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515600" y="8046720"/>
            <a:ext cx="6272784" cy="512064"/>
            <a:chOff x="0" y="0"/>
            <a:chExt cx="8363712" cy="68275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363712" cy="682752"/>
            </a:xfrm>
            <a:custGeom>
              <a:avLst/>
              <a:gdLst/>
              <a:ahLst/>
              <a:cxnLst/>
              <a:rect r="r" b="b" t="t" l="l"/>
              <a:pathLst>
                <a:path h="682752" w="8363712">
                  <a:moveTo>
                    <a:pt x="0" y="0"/>
                  </a:moveTo>
                  <a:lnTo>
                    <a:pt x="8363712" y="0"/>
                  </a:lnTo>
                  <a:lnTo>
                    <a:pt x="8363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8363712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08"/>
                </a:lnSpc>
              </a:pPr>
              <a:r>
                <a:rPr lang="en-US" sz="1340">
                  <a:solidFill>
                    <a:srgbClr val="5C6976"/>
                  </a:solidFill>
                  <a:latin typeface="Aptos"/>
                  <a:ea typeface="Aptos"/>
                  <a:cs typeface="Aptos"/>
                  <a:sym typeface="Aptos"/>
                </a:rPr>
                <a:t>Within budget, reliability exceeds threshold, and every hard constraint is satisfied.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121159" y="8728967"/>
            <a:ext cx="16045691" cy="848363"/>
            <a:chOff x="0" y="0"/>
            <a:chExt cx="21394255" cy="1131151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1394167" cy="1131062"/>
            </a:xfrm>
            <a:custGeom>
              <a:avLst/>
              <a:gdLst/>
              <a:ahLst/>
              <a:cxnLst/>
              <a:rect r="r" b="b" t="t" l="l"/>
              <a:pathLst>
                <a:path h="1131062" w="21394167">
                  <a:moveTo>
                    <a:pt x="0" y="188468"/>
                  </a:moveTo>
                  <a:cubicBezTo>
                    <a:pt x="0" y="84455"/>
                    <a:pt x="84455" y="0"/>
                    <a:pt x="188468" y="0"/>
                  </a:cubicBezTo>
                  <a:lnTo>
                    <a:pt x="21205698" y="0"/>
                  </a:lnTo>
                  <a:cubicBezTo>
                    <a:pt x="21309839" y="0"/>
                    <a:pt x="21394167" y="84455"/>
                    <a:pt x="21394167" y="188468"/>
                  </a:cubicBezTo>
                  <a:lnTo>
                    <a:pt x="21394167" y="942594"/>
                  </a:lnTo>
                  <a:cubicBezTo>
                    <a:pt x="21394167" y="1046734"/>
                    <a:pt x="21309712" y="1131062"/>
                    <a:pt x="21205698" y="1131062"/>
                  </a:cubicBezTo>
                  <a:lnTo>
                    <a:pt x="188468" y="1131062"/>
                  </a:lnTo>
                  <a:cubicBezTo>
                    <a:pt x="84455" y="1131189"/>
                    <a:pt x="0" y="1046734"/>
                    <a:pt x="0" y="942594"/>
                  </a:cubicBezTo>
                  <a:close/>
                </a:path>
              </a:pathLst>
            </a:custGeom>
            <a:solidFill>
              <a:srgbClr val="F4F8F9"/>
            </a:solidFill>
            <a:ln w="25400" cap="sq">
              <a:solidFill>
                <a:srgbClr val="E09B2A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1499616" y="8961120"/>
            <a:ext cx="15288768" cy="329184"/>
            <a:chOff x="0" y="0"/>
            <a:chExt cx="20385024" cy="43891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0385021" cy="438912"/>
            </a:xfrm>
            <a:custGeom>
              <a:avLst/>
              <a:gdLst/>
              <a:ahLst/>
              <a:cxnLst/>
              <a:rect r="r" b="b" t="t" l="l"/>
              <a:pathLst>
                <a:path h="438912" w="20385021">
                  <a:moveTo>
                    <a:pt x="0" y="0"/>
                  </a:moveTo>
                  <a:lnTo>
                    <a:pt x="20385021" y="0"/>
                  </a:lnTo>
                  <a:lnTo>
                    <a:pt x="20385021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4971" r="0" b="-85497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20385024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31"/>
                </a:lnSpc>
              </a:pPr>
              <a:r>
                <a:rPr lang="en-US" sz="1359" b="true">
                  <a:solidFill>
                    <a:srgbClr val="E09B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₹4.8L + 82% reliability  →  ESCALATE  ·  budget exception + reliability threshold require review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90435"/>
            <a:ext cx="16303523" cy="641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7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Decision-Centric Human Oversight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793824"/>
            <a:ext cx="16303523" cy="56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Do not ask humans to approve every routine action. </a:t>
            </a:r>
            <a:r>
              <a:rPr lang="en-US" sz="1399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Escalate only when it matters.</a:t>
            </a: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Human attention is a scarce resource — the agent preserves it for genuinely consequential decisions.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2639168"/>
            <a:ext cx="7920038" cy="32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Escalation Triggers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4929" y="3164529"/>
            <a:ext cx="7347347" cy="32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Authorization Exception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4929" y="3606556"/>
            <a:ext cx="7347347" cy="29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Total cost exceeds autonomous execution limit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4929" y="4230738"/>
            <a:ext cx="7347347" cy="32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Critical Ambiguity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4929" y="4672755"/>
            <a:ext cx="7347347" cy="29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Requirements too underspecified to proceed safely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4929" y="5296938"/>
            <a:ext cx="7347347" cy="32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High-Risk Decision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4929" y="5738965"/>
            <a:ext cx="7347347" cy="29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Best available vendor has low reliability score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4929" y="6363148"/>
            <a:ext cx="7347347" cy="32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Low Confidence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4929" y="6805165"/>
            <a:ext cx="7347347" cy="29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Multiple equally-ranked options with no clear winner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64929" y="7429348"/>
            <a:ext cx="7347347" cy="32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Constraint Conflict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64929" y="7871374"/>
            <a:ext cx="7347347" cy="29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No fully compliant option exists across all hard constraints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85249" y="2639168"/>
            <a:ext cx="7920038" cy="32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Decision Packet Delivered to Approver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75724" y="3118399"/>
            <a:ext cx="3906288" cy="1415358"/>
            <a:chOff x="0" y="0"/>
            <a:chExt cx="5208384" cy="18871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08397" cy="1887093"/>
            </a:xfrm>
            <a:custGeom>
              <a:avLst/>
              <a:gdLst/>
              <a:ahLst/>
              <a:cxnLst/>
              <a:rect r="r" b="b" t="t" l="l"/>
              <a:pathLst>
                <a:path h="1887093" w="5208397">
                  <a:moveTo>
                    <a:pt x="0" y="107823"/>
                  </a:moveTo>
                  <a:cubicBezTo>
                    <a:pt x="0" y="48260"/>
                    <a:pt x="48260" y="0"/>
                    <a:pt x="107823" y="0"/>
                  </a:cubicBezTo>
                  <a:lnTo>
                    <a:pt x="5100574" y="0"/>
                  </a:lnTo>
                  <a:cubicBezTo>
                    <a:pt x="5160137" y="0"/>
                    <a:pt x="5208397" y="48260"/>
                    <a:pt x="5208397" y="107823"/>
                  </a:cubicBezTo>
                  <a:lnTo>
                    <a:pt x="5208397" y="1779270"/>
                  </a:lnTo>
                  <a:cubicBezTo>
                    <a:pt x="5208397" y="1838833"/>
                    <a:pt x="5160137" y="1887093"/>
                    <a:pt x="5100574" y="1887093"/>
                  </a:cubicBezTo>
                  <a:lnTo>
                    <a:pt x="107823" y="1887093"/>
                  </a:lnTo>
                  <a:cubicBezTo>
                    <a:pt x="48260" y="1887093"/>
                    <a:pt x="0" y="1838833"/>
                    <a:pt x="0" y="177927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594209" y="3308299"/>
            <a:ext cx="3469329" cy="32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Proposed Purchase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94209" y="3750316"/>
            <a:ext cx="3469329" cy="56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Vendor, quantity, unit price, total cost, authorized amount, and variance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408371" y="3118399"/>
            <a:ext cx="3906441" cy="1415358"/>
            <a:chOff x="0" y="0"/>
            <a:chExt cx="5208588" cy="18871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08651" cy="1887093"/>
            </a:xfrm>
            <a:custGeom>
              <a:avLst/>
              <a:gdLst/>
              <a:ahLst/>
              <a:cxnLst/>
              <a:rect r="r" b="b" t="t" l="l"/>
              <a:pathLst>
                <a:path h="1887093" w="5208651">
                  <a:moveTo>
                    <a:pt x="0" y="107823"/>
                  </a:moveTo>
                  <a:cubicBezTo>
                    <a:pt x="0" y="48260"/>
                    <a:pt x="48260" y="0"/>
                    <a:pt x="107823" y="0"/>
                  </a:cubicBezTo>
                  <a:lnTo>
                    <a:pt x="5100828" y="0"/>
                  </a:lnTo>
                  <a:cubicBezTo>
                    <a:pt x="5160391" y="0"/>
                    <a:pt x="5208651" y="48260"/>
                    <a:pt x="5208651" y="107823"/>
                  </a:cubicBezTo>
                  <a:lnTo>
                    <a:pt x="5208651" y="1779270"/>
                  </a:lnTo>
                  <a:cubicBezTo>
                    <a:pt x="5208651" y="1838833"/>
                    <a:pt x="5160391" y="1887093"/>
                    <a:pt x="5100828" y="1887093"/>
                  </a:cubicBezTo>
                  <a:lnTo>
                    <a:pt x="107823" y="1887093"/>
                  </a:lnTo>
                  <a:cubicBezTo>
                    <a:pt x="48260" y="1887093"/>
                    <a:pt x="0" y="1838833"/>
                    <a:pt x="0" y="177927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3626856" y="3308299"/>
            <a:ext cx="3469481" cy="32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Escalation Context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26856" y="3750316"/>
            <a:ext cx="3469481" cy="56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Reason for escalation, risk level, delivery implications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75724" y="4660106"/>
            <a:ext cx="3906288" cy="1711966"/>
            <a:chOff x="0" y="0"/>
            <a:chExt cx="5208384" cy="228262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08397" cy="2282698"/>
            </a:xfrm>
            <a:custGeom>
              <a:avLst/>
              <a:gdLst/>
              <a:ahLst/>
              <a:cxnLst/>
              <a:rect r="r" b="b" t="t" l="l"/>
              <a:pathLst>
                <a:path h="2282698" w="5208397">
                  <a:moveTo>
                    <a:pt x="0" y="107569"/>
                  </a:moveTo>
                  <a:cubicBezTo>
                    <a:pt x="0" y="48133"/>
                    <a:pt x="48133" y="0"/>
                    <a:pt x="107569" y="0"/>
                  </a:cubicBezTo>
                  <a:lnTo>
                    <a:pt x="5100828" y="0"/>
                  </a:lnTo>
                  <a:cubicBezTo>
                    <a:pt x="5160264" y="0"/>
                    <a:pt x="5208397" y="48133"/>
                    <a:pt x="5208397" y="107569"/>
                  </a:cubicBezTo>
                  <a:lnTo>
                    <a:pt x="5208397" y="2175129"/>
                  </a:lnTo>
                  <a:cubicBezTo>
                    <a:pt x="5208397" y="2234565"/>
                    <a:pt x="5160264" y="2282698"/>
                    <a:pt x="5100828" y="2282698"/>
                  </a:cubicBezTo>
                  <a:lnTo>
                    <a:pt x="107569" y="2282698"/>
                  </a:lnTo>
                  <a:cubicBezTo>
                    <a:pt x="48133" y="2282698"/>
                    <a:pt x="0" y="2234565"/>
                    <a:pt x="0" y="21751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9594209" y="4850016"/>
            <a:ext cx="3469329" cy="62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Alternatives with Trade-offs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94209" y="5588641"/>
            <a:ext cx="3469329" cy="56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All compliant alternatives with ranked comparison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408371" y="4660106"/>
            <a:ext cx="3906441" cy="1711966"/>
            <a:chOff x="0" y="0"/>
            <a:chExt cx="5208588" cy="228262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08651" cy="2282698"/>
            </a:xfrm>
            <a:custGeom>
              <a:avLst/>
              <a:gdLst/>
              <a:ahLst/>
              <a:cxnLst/>
              <a:rect r="r" b="b" t="t" l="l"/>
              <a:pathLst>
                <a:path h="2282698" w="5208651">
                  <a:moveTo>
                    <a:pt x="0" y="107569"/>
                  </a:moveTo>
                  <a:cubicBezTo>
                    <a:pt x="0" y="48133"/>
                    <a:pt x="48133" y="0"/>
                    <a:pt x="107569" y="0"/>
                  </a:cubicBezTo>
                  <a:lnTo>
                    <a:pt x="5101082" y="0"/>
                  </a:lnTo>
                  <a:cubicBezTo>
                    <a:pt x="5160518" y="0"/>
                    <a:pt x="5208651" y="48133"/>
                    <a:pt x="5208651" y="107569"/>
                  </a:cubicBezTo>
                  <a:lnTo>
                    <a:pt x="5208651" y="2175129"/>
                  </a:lnTo>
                  <a:cubicBezTo>
                    <a:pt x="5208651" y="2234565"/>
                    <a:pt x="5160518" y="2282698"/>
                    <a:pt x="5101082" y="2282698"/>
                  </a:cubicBezTo>
                  <a:lnTo>
                    <a:pt x="107569" y="2282698"/>
                  </a:lnTo>
                  <a:cubicBezTo>
                    <a:pt x="48133" y="2282698"/>
                    <a:pt x="0" y="2234565"/>
                    <a:pt x="0" y="21751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3626856" y="4850016"/>
            <a:ext cx="3469481" cy="62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Agent Recommendation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626856" y="5588641"/>
            <a:ext cx="3469481" cy="29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Preferred action with full justification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85249" y="6497536"/>
            <a:ext cx="7920038" cy="32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Human Actions Available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380487" y="6981530"/>
            <a:ext cx="7929562" cy="2208609"/>
            <a:chOff x="0" y="0"/>
            <a:chExt cx="10572750" cy="29448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572750" cy="2944749"/>
            </a:xfrm>
            <a:custGeom>
              <a:avLst/>
              <a:gdLst/>
              <a:ahLst/>
              <a:cxnLst/>
              <a:rect r="r" b="b" t="t" l="l"/>
              <a:pathLst>
                <a:path h="2944749" w="10572750">
                  <a:moveTo>
                    <a:pt x="0" y="106807"/>
                  </a:moveTo>
                  <a:cubicBezTo>
                    <a:pt x="0" y="47879"/>
                    <a:pt x="47879" y="0"/>
                    <a:pt x="106807" y="0"/>
                  </a:cubicBezTo>
                  <a:lnTo>
                    <a:pt x="10465943" y="0"/>
                  </a:lnTo>
                  <a:cubicBezTo>
                    <a:pt x="10524999" y="0"/>
                    <a:pt x="10572750" y="47879"/>
                    <a:pt x="10572750" y="106807"/>
                  </a:cubicBezTo>
                  <a:lnTo>
                    <a:pt x="10572750" y="2837942"/>
                  </a:lnTo>
                  <a:cubicBezTo>
                    <a:pt x="10572750" y="2896997"/>
                    <a:pt x="10524872" y="2944749"/>
                    <a:pt x="10465943" y="2944749"/>
                  </a:cubicBezTo>
                  <a:lnTo>
                    <a:pt x="106807" y="2944749"/>
                  </a:lnTo>
                  <a:cubicBezTo>
                    <a:pt x="47752" y="2944749"/>
                    <a:pt x="0" y="2896870"/>
                    <a:pt x="0" y="2837942"/>
                  </a:cubicBezTo>
                  <a:close/>
                </a:path>
              </a:pathLst>
            </a:custGeom>
            <a:solidFill>
              <a:srgbClr val="D6F5EE"/>
            </a:solidFill>
            <a:ln w="9526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94774" y="6995817"/>
            <a:ext cx="3950494" cy="1090022"/>
            <a:chOff x="0" y="0"/>
            <a:chExt cx="5267325" cy="145336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67325" cy="1453388"/>
            </a:xfrm>
            <a:custGeom>
              <a:avLst/>
              <a:gdLst/>
              <a:ahLst/>
              <a:cxnLst/>
              <a:rect r="r" b="b" t="t" l="l"/>
              <a:pathLst>
                <a:path h="1453388" w="5267325">
                  <a:moveTo>
                    <a:pt x="88646" y="0"/>
                  </a:moveTo>
                  <a:lnTo>
                    <a:pt x="5267325" y="0"/>
                  </a:lnTo>
                  <a:lnTo>
                    <a:pt x="5267325" y="1453388"/>
                  </a:lnTo>
                  <a:lnTo>
                    <a:pt x="0" y="1453388"/>
                  </a:lnTo>
                  <a:lnTo>
                    <a:pt x="0" y="88646"/>
                  </a:lnTo>
                  <a:cubicBezTo>
                    <a:pt x="0" y="39624"/>
                    <a:pt x="39624" y="0"/>
                    <a:pt x="88646" y="0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584684" y="7157142"/>
            <a:ext cx="3570684" cy="32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20C7B5"/>
                </a:solidFill>
                <a:latin typeface="Arimo Bold"/>
                <a:ea typeface="Arimo Bold"/>
                <a:cs typeface="Arimo Bold"/>
                <a:sym typeface="Arimo Bold"/>
              </a:rPr>
              <a:t>APPROVE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84684" y="7599169"/>
            <a:ext cx="3570684" cy="29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Accept recommendation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345268" y="6995817"/>
            <a:ext cx="3950494" cy="1090022"/>
            <a:chOff x="0" y="0"/>
            <a:chExt cx="5267325" cy="145336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67325" cy="1453388"/>
            </a:xfrm>
            <a:custGeom>
              <a:avLst/>
              <a:gdLst/>
              <a:ahLst/>
              <a:cxnLst/>
              <a:rect r="r" b="b" t="t" l="l"/>
              <a:pathLst>
                <a:path h="1453388" w="5267325">
                  <a:moveTo>
                    <a:pt x="0" y="0"/>
                  </a:moveTo>
                  <a:lnTo>
                    <a:pt x="5178679" y="0"/>
                  </a:lnTo>
                  <a:cubicBezTo>
                    <a:pt x="5227574" y="0"/>
                    <a:pt x="5267325" y="39624"/>
                    <a:pt x="5267325" y="88646"/>
                  </a:cubicBezTo>
                  <a:lnTo>
                    <a:pt x="5267325" y="1453388"/>
                  </a:lnTo>
                  <a:lnTo>
                    <a:pt x="0" y="14533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345268" y="6995817"/>
            <a:ext cx="19050" cy="1090022"/>
            <a:chOff x="0" y="0"/>
            <a:chExt cx="25400" cy="145336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400" cy="1453388"/>
            </a:xfrm>
            <a:custGeom>
              <a:avLst/>
              <a:gdLst/>
              <a:ahLst/>
              <a:cxnLst/>
              <a:rect r="r" b="b" t="t" l="l"/>
              <a:pathLst>
                <a:path h="1453388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1440688"/>
                  </a:lnTo>
                  <a:cubicBezTo>
                    <a:pt x="25400" y="1447673"/>
                    <a:pt x="19685" y="1453388"/>
                    <a:pt x="12700" y="1453388"/>
                  </a:cubicBezTo>
                  <a:cubicBezTo>
                    <a:pt x="5715" y="1453388"/>
                    <a:pt x="0" y="1447673"/>
                    <a:pt x="0" y="1440688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3535177" y="7157142"/>
            <a:ext cx="3570684" cy="32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E85D75"/>
                </a:solidFill>
                <a:latin typeface="Arimo Bold"/>
                <a:ea typeface="Arimo Bold"/>
                <a:cs typeface="Arimo Bold"/>
                <a:sym typeface="Arimo Bold"/>
              </a:rPr>
              <a:t>REJECT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535177" y="7599169"/>
            <a:ext cx="3570684" cy="29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Decline, request alternatives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394774" y="8085830"/>
            <a:ext cx="7900988" cy="1090022"/>
            <a:chOff x="0" y="0"/>
            <a:chExt cx="10534650" cy="145336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534650" cy="1453388"/>
            </a:xfrm>
            <a:custGeom>
              <a:avLst/>
              <a:gdLst/>
              <a:ahLst/>
              <a:cxnLst/>
              <a:rect r="r" b="b" t="t" l="l"/>
              <a:pathLst>
                <a:path h="1453388" w="10534650">
                  <a:moveTo>
                    <a:pt x="0" y="0"/>
                  </a:moveTo>
                  <a:lnTo>
                    <a:pt x="10534650" y="0"/>
                  </a:lnTo>
                  <a:lnTo>
                    <a:pt x="10534650" y="1364742"/>
                  </a:lnTo>
                  <a:cubicBezTo>
                    <a:pt x="10534650" y="1413637"/>
                    <a:pt x="10495026" y="1453388"/>
                    <a:pt x="10446004" y="1453388"/>
                  </a:cubicBezTo>
                  <a:lnTo>
                    <a:pt x="88646" y="1453388"/>
                  </a:lnTo>
                  <a:cubicBezTo>
                    <a:pt x="39751" y="1453388"/>
                    <a:pt x="0" y="1413764"/>
                    <a:pt x="0" y="136474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394774" y="8085830"/>
            <a:ext cx="7900988" cy="19050"/>
            <a:chOff x="0" y="0"/>
            <a:chExt cx="10534650" cy="25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534650" cy="25400"/>
            </a:xfrm>
            <a:custGeom>
              <a:avLst/>
              <a:gdLst/>
              <a:ahLst/>
              <a:cxnLst/>
              <a:rect r="r" b="b" t="t" l="l"/>
              <a:pathLst>
                <a:path h="25400" w="1053465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0521950" y="0"/>
                  </a:lnTo>
                  <a:cubicBezTo>
                    <a:pt x="10528935" y="0"/>
                    <a:pt x="10534650" y="5715"/>
                    <a:pt x="10534650" y="12700"/>
                  </a:cubicBezTo>
                  <a:cubicBezTo>
                    <a:pt x="10534650" y="19685"/>
                    <a:pt x="10528935" y="25400"/>
                    <a:pt x="1052195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9584684" y="8247164"/>
            <a:ext cx="7521178" cy="32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F5B942"/>
                </a:solidFill>
                <a:latin typeface="Arimo Bold"/>
                <a:ea typeface="Arimo Bold"/>
                <a:cs typeface="Arimo Bold"/>
                <a:sym typeface="Arimo Bold"/>
              </a:rPr>
              <a:t>MODIFY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84684" y="8689181"/>
            <a:ext cx="7521178" cy="29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Adjust constraints, recalculate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98744"/>
            <a:ext cx="16303523" cy="716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Why-Not Engine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747390"/>
            <a:ext cx="16303523" cy="69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Every decision has two sides: </a:t>
            </a:r>
            <a:r>
              <a:rPr lang="en-US" sz="170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was chosen</a:t>
            </a: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US" sz="170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alternatives were rejected</a:t>
            </a: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. The Why-Not Engine generates structured rejection rationale for every eliminated vendor — making the agent's logic fully auditable.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7951" y="2645569"/>
            <a:ext cx="8085382" cy="2866282"/>
            <a:chOff x="0" y="0"/>
            <a:chExt cx="10780509" cy="38217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0522" cy="3821684"/>
            </a:xfrm>
            <a:custGeom>
              <a:avLst/>
              <a:gdLst/>
              <a:ahLst/>
              <a:cxnLst/>
              <a:rect r="r" b="b" t="t" l="l"/>
              <a:pathLst>
                <a:path h="3821684" w="10780522">
                  <a:moveTo>
                    <a:pt x="0" y="122809"/>
                  </a:moveTo>
                  <a:cubicBezTo>
                    <a:pt x="0" y="54991"/>
                    <a:pt x="54991" y="0"/>
                    <a:pt x="122809" y="0"/>
                  </a:cubicBezTo>
                  <a:lnTo>
                    <a:pt x="10657713" y="0"/>
                  </a:lnTo>
                  <a:cubicBezTo>
                    <a:pt x="10725531" y="0"/>
                    <a:pt x="10780522" y="54991"/>
                    <a:pt x="10780522" y="122809"/>
                  </a:cubicBezTo>
                  <a:lnTo>
                    <a:pt x="10780522" y="3698875"/>
                  </a:lnTo>
                  <a:cubicBezTo>
                    <a:pt x="10780522" y="3766693"/>
                    <a:pt x="10725531" y="3821684"/>
                    <a:pt x="10657713" y="3821684"/>
                  </a:cubicBezTo>
                  <a:lnTo>
                    <a:pt x="122809" y="3821684"/>
                  </a:lnTo>
                  <a:cubicBezTo>
                    <a:pt x="54991" y="3821684"/>
                    <a:pt x="0" y="3766693"/>
                    <a:pt x="0" y="3698875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37802" y="2886370"/>
            <a:ext cx="7565679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20C7B5"/>
                </a:solidFill>
                <a:latin typeface="Arimo Bold"/>
                <a:ea typeface="Arimo Bold"/>
                <a:cs typeface="Arimo Bold"/>
                <a:sym typeface="Arimo Bold"/>
              </a:rPr>
              <a:t>✓ SELECTED — Vendor 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7802" y="3354095"/>
            <a:ext cx="7565679" cy="189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Meets all mandatory hard constraints</a:t>
            </a:r>
          </a:p>
          <a:p>
            <a:pPr algn="l" marL="410210" indent="-205105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Within budget: ₹42K ≤ ₹45K limit</a:t>
            </a:r>
          </a:p>
          <a:p>
            <a:pPr algn="l" marL="410210" indent="-205105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On time: 5 days ≤ 7-day requirement</a:t>
            </a:r>
          </a:p>
          <a:p>
            <a:pPr algn="l" marL="410210" indent="-205105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High reliability: 94%</a:t>
            </a:r>
          </a:p>
          <a:p>
            <a:pPr algn="l" marL="410210" indent="-205105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Low procurement risk classification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24667" y="2645569"/>
            <a:ext cx="8085382" cy="2866282"/>
            <a:chOff x="0" y="0"/>
            <a:chExt cx="10780509" cy="38217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80522" cy="3821684"/>
            </a:xfrm>
            <a:custGeom>
              <a:avLst/>
              <a:gdLst/>
              <a:ahLst/>
              <a:cxnLst/>
              <a:rect r="r" b="b" t="t" l="l"/>
              <a:pathLst>
                <a:path h="3821684" w="10780522">
                  <a:moveTo>
                    <a:pt x="0" y="122809"/>
                  </a:moveTo>
                  <a:cubicBezTo>
                    <a:pt x="0" y="54991"/>
                    <a:pt x="54991" y="0"/>
                    <a:pt x="122809" y="0"/>
                  </a:cubicBezTo>
                  <a:lnTo>
                    <a:pt x="10657713" y="0"/>
                  </a:lnTo>
                  <a:cubicBezTo>
                    <a:pt x="10725531" y="0"/>
                    <a:pt x="10780522" y="54991"/>
                    <a:pt x="10780522" y="122809"/>
                  </a:cubicBezTo>
                  <a:lnTo>
                    <a:pt x="10780522" y="3698875"/>
                  </a:lnTo>
                  <a:cubicBezTo>
                    <a:pt x="10780522" y="3766693"/>
                    <a:pt x="10725531" y="3821684"/>
                    <a:pt x="10657713" y="3821684"/>
                  </a:cubicBezTo>
                  <a:lnTo>
                    <a:pt x="122809" y="3821684"/>
                  </a:lnTo>
                  <a:cubicBezTo>
                    <a:pt x="54991" y="3821684"/>
                    <a:pt x="0" y="3766693"/>
                    <a:pt x="0" y="3698875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484519" y="2886370"/>
            <a:ext cx="7565679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85D75"/>
                </a:solidFill>
                <a:latin typeface="Arimo Bold"/>
                <a:ea typeface="Arimo Bold"/>
                <a:cs typeface="Arimo Bold"/>
                <a:sym typeface="Arimo Bold"/>
              </a:rPr>
              <a:t>✕ REJECTED — Vendor 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84519" y="3354095"/>
            <a:ext cx="7565679" cy="111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Reliability critically low: 63% (far below acceptable threshold)</a:t>
            </a:r>
          </a:p>
          <a:p>
            <a:pPr algn="l" marL="410210" indent="-205105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High-risk procurement classification</a:t>
            </a:r>
          </a:p>
          <a:p>
            <a:pPr algn="l" marL="410210" indent="-205105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Delivery at maximum boundary with insufficient reliability buffer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77951" y="5673176"/>
            <a:ext cx="8085382" cy="2082260"/>
            <a:chOff x="0" y="0"/>
            <a:chExt cx="10780509" cy="27763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80523" cy="2776347"/>
            </a:xfrm>
            <a:custGeom>
              <a:avLst/>
              <a:gdLst/>
              <a:ahLst/>
              <a:cxnLst/>
              <a:rect r="r" b="b" t="t" l="l"/>
              <a:pathLst>
                <a:path h="2776347" w="10780523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10657205" y="0"/>
                  </a:lnTo>
                  <a:cubicBezTo>
                    <a:pt x="10725277" y="0"/>
                    <a:pt x="10780523" y="55245"/>
                    <a:pt x="10780523" y="123317"/>
                  </a:cubicBezTo>
                  <a:lnTo>
                    <a:pt x="10780523" y="2653030"/>
                  </a:lnTo>
                  <a:cubicBezTo>
                    <a:pt x="10780523" y="2721102"/>
                    <a:pt x="10725277" y="2776347"/>
                    <a:pt x="10657205" y="2776347"/>
                  </a:cubicBezTo>
                  <a:lnTo>
                    <a:pt x="123317" y="2776347"/>
                  </a:lnTo>
                  <a:cubicBezTo>
                    <a:pt x="55245" y="2776347"/>
                    <a:pt x="0" y="2721102"/>
                    <a:pt x="0" y="2653030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37802" y="5913987"/>
            <a:ext cx="7565679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85D75"/>
                </a:solidFill>
                <a:latin typeface="Arimo Bold"/>
                <a:ea typeface="Arimo Bold"/>
                <a:cs typeface="Arimo Bold"/>
                <a:sym typeface="Arimo Bold"/>
              </a:rPr>
              <a:t>✕ REJECTED — Vendor 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7802" y="6381712"/>
            <a:ext cx="7565679" cy="111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Total order cost: ₹44K × 10 = ₹4.4L</a:t>
            </a:r>
          </a:p>
          <a:p>
            <a:pPr algn="l" marL="410210" indent="-205105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Exceeds authorization limit at policy boundary</a:t>
            </a:r>
          </a:p>
          <a:p>
            <a:pPr algn="l" marL="410210" indent="-205105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Requires escalation — not auto-executable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24667" y="5673176"/>
            <a:ext cx="8085382" cy="2082260"/>
            <a:chOff x="0" y="0"/>
            <a:chExt cx="10780509" cy="27763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80523" cy="2776347"/>
            </a:xfrm>
            <a:custGeom>
              <a:avLst/>
              <a:gdLst/>
              <a:ahLst/>
              <a:cxnLst/>
              <a:rect r="r" b="b" t="t" l="l"/>
              <a:pathLst>
                <a:path h="2776347" w="10780523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10657205" y="0"/>
                  </a:lnTo>
                  <a:cubicBezTo>
                    <a:pt x="10725277" y="0"/>
                    <a:pt x="10780523" y="55245"/>
                    <a:pt x="10780523" y="123317"/>
                  </a:cubicBezTo>
                  <a:lnTo>
                    <a:pt x="10780523" y="2653030"/>
                  </a:lnTo>
                  <a:cubicBezTo>
                    <a:pt x="10780523" y="2721102"/>
                    <a:pt x="10725277" y="2776347"/>
                    <a:pt x="10657205" y="2776347"/>
                  </a:cubicBezTo>
                  <a:lnTo>
                    <a:pt x="123317" y="2776347"/>
                  </a:lnTo>
                  <a:cubicBezTo>
                    <a:pt x="55245" y="2776347"/>
                    <a:pt x="0" y="2721102"/>
                    <a:pt x="0" y="2653030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484519" y="5913987"/>
            <a:ext cx="7565679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85D75"/>
                </a:solidFill>
                <a:latin typeface="Arimo Bold"/>
                <a:ea typeface="Arimo Bold"/>
                <a:cs typeface="Arimo Bold"/>
                <a:sym typeface="Arimo Bold"/>
              </a:rPr>
              <a:t>✕ REJECTED — Vendor 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84519" y="6381712"/>
            <a:ext cx="7565679" cy="721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Reliability 78% — below minimum policy threshold of 85%</a:t>
            </a:r>
          </a:p>
          <a:p>
            <a:pPr algn="l" marL="410210" indent="-205105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Policy violation: mandatory reliability floor not met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992238" y="7954718"/>
            <a:ext cx="16303523" cy="1595285"/>
          </a:xfrm>
          <a:custGeom>
            <a:avLst/>
            <a:gdLst/>
            <a:ahLst/>
            <a:cxnLst/>
            <a:rect r="r" b="b" t="t" l="l"/>
            <a:pathLst>
              <a:path h="1595285" w="16303523">
                <a:moveTo>
                  <a:pt x="0" y="0"/>
                </a:moveTo>
                <a:lnTo>
                  <a:pt x="16303524" y="0"/>
                </a:lnTo>
                <a:lnTo>
                  <a:pt x="16303524" y="1595285"/>
                </a:lnTo>
                <a:lnTo>
                  <a:pt x="0" y="15952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43" r="0" b="-143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52102" y="8181232"/>
            <a:ext cx="15698095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4F8CFF"/>
                </a:solidFill>
                <a:latin typeface="Arimo Bold"/>
                <a:ea typeface="Arimo Bold"/>
                <a:cs typeface="Arimo Bold"/>
                <a:sym typeface="Arimo Bold"/>
              </a:rPr>
              <a:t>Core Principle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2102" y="8605542"/>
            <a:ext cx="15698095" cy="69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agent explains both its choice and its rejections. A decision that cannot be justified should not be executed. The Why-Not Engine is what separates a procurement intelligence system from a recommendation engine.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12889"/>
            <a:ext cx="16303523" cy="78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6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Negotiation + Failure Recovery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892941"/>
            <a:ext cx="16303523" cy="79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Autonomy doesn't stop when the first answer fails. </a:t>
            </a:r>
            <a:r>
              <a:rPr lang="en-US" sz="180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agent handles exceptions gracefully — not with error states.</a:t>
            </a: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Failure recovery and negotiation are first-class capabilities, not afterthoughts.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2937567"/>
            <a:ext cx="5293814" cy="4566942"/>
            <a:chOff x="0" y="0"/>
            <a:chExt cx="7058419" cy="60892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58406" cy="6089269"/>
            </a:xfrm>
            <a:custGeom>
              <a:avLst/>
              <a:gdLst/>
              <a:ahLst/>
              <a:cxnLst/>
              <a:rect r="r" b="b" t="t" l="l"/>
              <a:pathLst>
                <a:path h="6089269" w="7058406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lnTo>
                    <a:pt x="6925691" y="0"/>
                  </a:lnTo>
                  <a:cubicBezTo>
                    <a:pt x="6998970" y="0"/>
                    <a:pt x="7058406" y="59436"/>
                    <a:pt x="7058406" y="132715"/>
                  </a:cubicBezTo>
                  <a:lnTo>
                    <a:pt x="7058406" y="5956554"/>
                  </a:lnTo>
                  <a:cubicBezTo>
                    <a:pt x="7058406" y="6029833"/>
                    <a:pt x="6998970" y="6089269"/>
                    <a:pt x="6925691" y="6089269"/>
                  </a:cubicBezTo>
                  <a:lnTo>
                    <a:pt x="132715" y="6089269"/>
                  </a:lnTo>
                  <a:cubicBezTo>
                    <a:pt x="59436" y="6089269"/>
                    <a:pt x="0" y="6029833"/>
                    <a:pt x="0" y="5956554"/>
                  </a:cubicBezTo>
                  <a:close/>
                </a:path>
              </a:pathLst>
            </a:custGeom>
            <a:solidFill>
              <a:srgbClr val="D6F5EE"/>
            </a:solidFill>
            <a:ln w="9526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38098" y="3159623"/>
            <a:ext cx="4792561" cy="76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F5B942"/>
                </a:solidFill>
                <a:latin typeface="Arimo Bold"/>
                <a:ea typeface="Arimo Bold"/>
                <a:cs typeface="Arimo Bold"/>
                <a:sym typeface="Arimo Bold"/>
              </a:rPr>
              <a:t>Scenario 1</a:t>
            </a:r>
          </a:p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Vendor Unavailable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8098" y="4052259"/>
            <a:ext cx="4792561" cy="3201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Top-ranked vendor reports unavailability</a:t>
            </a:r>
          </a:p>
          <a:p>
            <a:pPr algn="l" marL="434340" indent="-217170" lvl="1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Agent re-checks next compliant alternative automatically</a:t>
            </a:r>
          </a:p>
          <a:p>
            <a:pPr algn="l" marL="434340" indent="-217170" lvl="1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Recalculates risk and delivery impact for new selection</a:t>
            </a:r>
          </a:p>
          <a:p>
            <a:pPr algn="l" marL="434340" indent="-217170" lvl="1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Proceeds without human interruption if within policy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97088" y="2937567"/>
            <a:ext cx="5293814" cy="4566942"/>
            <a:chOff x="0" y="0"/>
            <a:chExt cx="7058419" cy="60892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58406" cy="6089269"/>
            </a:xfrm>
            <a:custGeom>
              <a:avLst/>
              <a:gdLst/>
              <a:ahLst/>
              <a:cxnLst/>
              <a:rect r="r" b="b" t="t" l="l"/>
              <a:pathLst>
                <a:path h="6089269" w="7058406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lnTo>
                    <a:pt x="6925691" y="0"/>
                  </a:lnTo>
                  <a:cubicBezTo>
                    <a:pt x="6998970" y="0"/>
                    <a:pt x="7058406" y="59436"/>
                    <a:pt x="7058406" y="132715"/>
                  </a:cubicBezTo>
                  <a:lnTo>
                    <a:pt x="7058406" y="5956554"/>
                  </a:lnTo>
                  <a:cubicBezTo>
                    <a:pt x="7058406" y="6029833"/>
                    <a:pt x="6998970" y="6089269"/>
                    <a:pt x="6925691" y="6089269"/>
                  </a:cubicBezTo>
                  <a:lnTo>
                    <a:pt x="132715" y="6089269"/>
                  </a:lnTo>
                  <a:cubicBezTo>
                    <a:pt x="59436" y="6089269"/>
                    <a:pt x="0" y="6029833"/>
                    <a:pt x="0" y="5956554"/>
                  </a:cubicBezTo>
                  <a:close/>
                </a:path>
              </a:pathLst>
            </a:custGeom>
            <a:solidFill>
              <a:srgbClr val="D6F5EE"/>
            </a:solidFill>
            <a:ln w="9526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747720" y="3159623"/>
            <a:ext cx="4792561" cy="76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E85D75"/>
                </a:solidFill>
                <a:latin typeface="Arimo Bold"/>
                <a:ea typeface="Arimo Bold"/>
                <a:cs typeface="Arimo Bold"/>
                <a:sym typeface="Arimo Bold"/>
              </a:rPr>
              <a:t>Scenario 2</a:t>
            </a:r>
          </a:p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No Exact Match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47720" y="4052259"/>
            <a:ext cx="4792561" cy="3201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No vendor satisfies all hard constraints simultaneously</a:t>
            </a:r>
          </a:p>
          <a:p>
            <a:pPr algn="l" marL="434340" indent="-217170" lvl="1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Agent performs constraint relaxation analysis</a:t>
            </a:r>
          </a:p>
          <a:p>
            <a:pPr algn="l" marL="434340" indent="-217170" lvl="1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Presents ranked trade-off options per relaxation path</a:t>
            </a:r>
          </a:p>
          <a:p>
            <a:pPr algn="l" marL="434340" indent="-217170" lvl="1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Asks human: </a:t>
            </a:r>
            <a:r>
              <a:rPr lang="en-US" sz="1800" i="true">
                <a:solidFill>
                  <a:srgbClr val="333F7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which constraint may be relaxed?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06710" y="2937567"/>
            <a:ext cx="5293814" cy="4566942"/>
            <a:chOff x="0" y="0"/>
            <a:chExt cx="7058419" cy="60892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58406" cy="6089269"/>
            </a:xfrm>
            <a:custGeom>
              <a:avLst/>
              <a:gdLst/>
              <a:ahLst/>
              <a:cxnLst/>
              <a:rect r="r" b="b" t="t" l="l"/>
              <a:pathLst>
                <a:path h="6089269" w="7058406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lnTo>
                    <a:pt x="6925691" y="0"/>
                  </a:lnTo>
                  <a:cubicBezTo>
                    <a:pt x="6998970" y="0"/>
                    <a:pt x="7058406" y="59436"/>
                    <a:pt x="7058406" y="132715"/>
                  </a:cubicBezTo>
                  <a:lnTo>
                    <a:pt x="7058406" y="5956554"/>
                  </a:lnTo>
                  <a:cubicBezTo>
                    <a:pt x="7058406" y="6029833"/>
                    <a:pt x="6998970" y="6089269"/>
                    <a:pt x="6925691" y="6089269"/>
                  </a:cubicBezTo>
                  <a:lnTo>
                    <a:pt x="132715" y="6089269"/>
                  </a:lnTo>
                  <a:cubicBezTo>
                    <a:pt x="59436" y="6089269"/>
                    <a:pt x="0" y="6029833"/>
                    <a:pt x="0" y="5956554"/>
                  </a:cubicBezTo>
                  <a:close/>
                </a:path>
              </a:pathLst>
            </a:custGeom>
            <a:solidFill>
              <a:srgbClr val="D6F5EE"/>
            </a:solidFill>
            <a:ln w="9526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257332" y="3159623"/>
            <a:ext cx="4792561" cy="76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20C7B5"/>
                </a:solidFill>
                <a:latin typeface="Arimo Bold"/>
                <a:ea typeface="Arimo Bold"/>
                <a:cs typeface="Arimo Bold"/>
                <a:sym typeface="Arimo Bold"/>
              </a:rPr>
              <a:t>Scenario 3</a:t>
            </a:r>
          </a:p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Negotiation Simulation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57332" y="4052259"/>
            <a:ext cx="4792561" cy="3201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Vendor quote received after initial selection</a:t>
            </a:r>
          </a:p>
          <a:p>
            <a:pPr algn="l" marL="434340" indent="-217170" lvl="1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Agent applies pre-defined negotiation policy and tolerance thresholds</a:t>
            </a:r>
          </a:p>
          <a:p>
            <a:pPr algn="l" marL="434340" indent="-217170" lvl="1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Within tolerance → accept automatically</a:t>
            </a:r>
          </a:p>
          <a:p>
            <a:pPr algn="l" marL="434340" indent="-217170" lvl="1">
              <a:lnSpc>
                <a:spcPts val="2808"/>
              </a:lnSpc>
              <a:buFont typeface="Arial"/>
              <a:buChar char="•"/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Outside tolerance → escalate for human decision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92238" y="7753198"/>
            <a:ext cx="16303523" cy="1773136"/>
          </a:xfrm>
          <a:custGeom>
            <a:avLst/>
            <a:gdLst/>
            <a:ahLst/>
            <a:cxnLst/>
            <a:rect r="r" b="b" t="t" l="l"/>
            <a:pathLst>
              <a:path h="1773136" w="16303523">
                <a:moveTo>
                  <a:pt x="0" y="0"/>
                </a:moveTo>
                <a:lnTo>
                  <a:pt x="16303524" y="0"/>
                </a:lnTo>
                <a:lnTo>
                  <a:pt x="16303524" y="1773136"/>
                </a:lnTo>
                <a:lnTo>
                  <a:pt x="0" y="17731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16" r="0" b="-216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71448" y="7989541"/>
            <a:ext cx="15659395" cy="39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F8CFF"/>
                </a:solidFill>
                <a:latin typeface="Arimo Bold"/>
                <a:ea typeface="Arimo Bold"/>
                <a:cs typeface="Arimo Bold"/>
                <a:sym typeface="Arimo Bold"/>
              </a:rPr>
              <a:t>Design Philosophy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1448" y="8465496"/>
            <a:ext cx="15659395" cy="79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Every failure path has a defined recovery strategy. The agent never reaches a dead end — it either resolves the exception autonomously, or escalates with a structured decision packet. </a:t>
            </a:r>
            <a:r>
              <a:rPr lang="en-US" sz="180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Graceful recovery and escalation, not error states.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63178"/>
            <a:ext cx="16303523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Explainable Procurement Ledger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193902"/>
            <a:ext cx="17217923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Every action leaves evidence. </a:t>
            </a:r>
            <a:r>
              <a:rPr lang="en-US" sz="90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Complete, immutable audit trail from request to execution</a:t>
            </a:r>
            <a:r>
              <a:rPr lang="en-US"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answering every question a stakeholder, auditor, or judge might ask.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53280" y="1412234"/>
            <a:ext cx="15781287" cy="5921873"/>
            <a:chOff x="0" y="0"/>
            <a:chExt cx="21041716" cy="789583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041740" cy="7895844"/>
            </a:xfrm>
            <a:custGeom>
              <a:avLst/>
              <a:gdLst/>
              <a:ahLst/>
              <a:cxnLst/>
              <a:rect r="r" b="b" t="t" l="l"/>
              <a:pathLst>
                <a:path h="7895844" w="21041740">
                  <a:moveTo>
                    <a:pt x="0" y="0"/>
                  </a:moveTo>
                  <a:lnTo>
                    <a:pt x="21041740" y="0"/>
                  </a:lnTo>
                  <a:lnTo>
                    <a:pt x="21041740" y="7895844"/>
                  </a:lnTo>
                  <a:lnTo>
                    <a:pt x="0" y="7895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004417" y="5867933"/>
            <a:ext cx="238029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Authorize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04594" y="5867933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Decide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21079" y="5867933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Compare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37563" y="5867933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Search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8830" y="5867933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Request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7446616"/>
            <a:ext cx="8000552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The Ledger Answers Three Questions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2713" y="7719565"/>
            <a:ext cx="3988298" cy="1006821"/>
            <a:chOff x="0" y="0"/>
            <a:chExt cx="5317731" cy="13424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17617" cy="1342263"/>
            </a:xfrm>
            <a:custGeom>
              <a:avLst/>
              <a:gdLst/>
              <a:ahLst/>
              <a:cxnLst/>
              <a:rect r="r" b="b" t="t" l="l"/>
              <a:pathLst>
                <a:path h="1342263" w="5317617">
                  <a:moveTo>
                    <a:pt x="0" y="70739"/>
                  </a:moveTo>
                  <a:cubicBezTo>
                    <a:pt x="0" y="31750"/>
                    <a:pt x="31750" y="0"/>
                    <a:pt x="70739" y="0"/>
                  </a:cubicBezTo>
                  <a:lnTo>
                    <a:pt x="5246878" y="0"/>
                  </a:lnTo>
                  <a:cubicBezTo>
                    <a:pt x="5285994" y="0"/>
                    <a:pt x="5317617" y="31750"/>
                    <a:pt x="5317617" y="70739"/>
                  </a:cubicBezTo>
                  <a:lnTo>
                    <a:pt x="5317617" y="1271524"/>
                  </a:lnTo>
                  <a:cubicBezTo>
                    <a:pt x="5317617" y="1310640"/>
                    <a:pt x="5285867" y="1342263"/>
                    <a:pt x="5246878" y="1342263"/>
                  </a:cubicBezTo>
                  <a:lnTo>
                    <a:pt x="70739" y="1342263"/>
                  </a:lnTo>
                  <a:cubicBezTo>
                    <a:pt x="31623" y="1342263"/>
                    <a:pt x="0" y="1310513"/>
                    <a:pt x="0" y="12715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135256" y="7853067"/>
            <a:ext cx="3683194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 b="true">
                <a:solidFill>
                  <a:srgbClr val="4F8CFF"/>
                </a:solidFill>
                <a:latin typeface="Arimo Bold"/>
                <a:ea typeface="Arimo Bold"/>
                <a:cs typeface="Arimo Bold"/>
                <a:sym typeface="Arimo Bold"/>
              </a:rPr>
              <a:t>"Why this?"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5256" y="8127806"/>
            <a:ext cx="3683194" cy="446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Why was the selected vendor chosen? Full scoring rationale, constraint satisfaction matrix, and comparative ranking evidence.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013874" y="7719565"/>
            <a:ext cx="3988441" cy="1006821"/>
            <a:chOff x="0" y="0"/>
            <a:chExt cx="5317922" cy="13424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17871" cy="1342263"/>
            </a:xfrm>
            <a:custGeom>
              <a:avLst/>
              <a:gdLst/>
              <a:ahLst/>
              <a:cxnLst/>
              <a:rect r="r" b="b" t="t" l="l"/>
              <a:pathLst>
                <a:path h="1342263" w="5317871">
                  <a:moveTo>
                    <a:pt x="0" y="70739"/>
                  </a:moveTo>
                  <a:cubicBezTo>
                    <a:pt x="0" y="31750"/>
                    <a:pt x="31750" y="0"/>
                    <a:pt x="70739" y="0"/>
                  </a:cubicBezTo>
                  <a:lnTo>
                    <a:pt x="5247132" y="0"/>
                  </a:lnTo>
                  <a:cubicBezTo>
                    <a:pt x="5286248" y="0"/>
                    <a:pt x="5317871" y="31750"/>
                    <a:pt x="5317871" y="70739"/>
                  </a:cubicBezTo>
                  <a:lnTo>
                    <a:pt x="5317871" y="1271524"/>
                  </a:lnTo>
                  <a:cubicBezTo>
                    <a:pt x="5317871" y="1310640"/>
                    <a:pt x="5286121" y="1342263"/>
                    <a:pt x="5247132" y="1342263"/>
                  </a:cubicBezTo>
                  <a:lnTo>
                    <a:pt x="70739" y="1342263"/>
                  </a:lnTo>
                  <a:cubicBezTo>
                    <a:pt x="31623" y="1342263"/>
                    <a:pt x="0" y="1310513"/>
                    <a:pt x="0" y="12715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5166417" y="7853067"/>
            <a:ext cx="3683346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 b="true">
                <a:solidFill>
                  <a:srgbClr val="E85D75"/>
                </a:solidFill>
                <a:latin typeface="Arimo Bold"/>
                <a:ea typeface="Arimo Bold"/>
                <a:cs typeface="Arimo Bold"/>
                <a:sym typeface="Arimo Bold"/>
              </a:rPr>
              <a:t>"Why not that?"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66417" y="8127806"/>
            <a:ext cx="3683346" cy="446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Why were other vendors rejected? Specific failure reason per vendor — hard constraint violation, policy threshold breach, or risk classification.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2713" y="8769248"/>
            <a:ext cx="8019602" cy="709460"/>
            <a:chOff x="0" y="0"/>
            <a:chExt cx="10692803" cy="9459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92765" cy="945896"/>
            </a:xfrm>
            <a:custGeom>
              <a:avLst/>
              <a:gdLst/>
              <a:ahLst/>
              <a:cxnLst/>
              <a:rect r="r" b="b" t="t" l="l"/>
              <a:pathLst>
                <a:path h="945896" w="10692765">
                  <a:moveTo>
                    <a:pt x="0" y="71374"/>
                  </a:moveTo>
                  <a:cubicBezTo>
                    <a:pt x="0" y="32004"/>
                    <a:pt x="32004" y="0"/>
                    <a:pt x="71374" y="0"/>
                  </a:cubicBezTo>
                  <a:lnTo>
                    <a:pt x="10621391" y="0"/>
                  </a:lnTo>
                  <a:cubicBezTo>
                    <a:pt x="10660761" y="0"/>
                    <a:pt x="10692765" y="32004"/>
                    <a:pt x="10692765" y="71374"/>
                  </a:cubicBezTo>
                  <a:lnTo>
                    <a:pt x="10692765" y="874522"/>
                  </a:lnTo>
                  <a:cubicBezTo>
                    <a:pt x="10692765" y="913892"/>
                    <a:pt x="10660761" y="945896"/>
                    <a:pt x="10621391" y="945896"/>
                  </a:cubicBezTo>
                  <a:lnTo>
                    <a:pt x="71374" y="945896"/>
                  </a:lnTo>
                  <a:cubicBezTo>
                    <a:pt x="32004" y="945896"/>
                    <a:pt x="0" y="914019"/>
                    <a:pt x="0" y="8745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135256" y="8902751"/>
            <a:ext cx="7714507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 b="true">
                <a:solidFill>
                  <a:srgbClr val="20C7B5"/>
                </a:solidFill>
                <a:latin typeface="Arimo Bold"/>
                <a:ea typeface="Arimo Bold"/>
                <a:cs typeface="Arimo Bold"/>
                <a:sym typeface="Arimo Bold"/>
              </a:rPr>
              <a:t>"What happened?"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5256" y="9177490"/>
            <a:ext cx="7714507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actions did the agent perform? Complete step-by-step execution log from natural language input to purchase confirmation.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15438" y="7403754"/>
            <a:ext cx="8179146" cy="4587326"/>
            <a:chOff x="0" y="0"/>
            <a:chExt cx="10905528" cy="61164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05617" cy="6116447"/>
            </a:xfrm>
            <a:custGeom>
              <a:avLst/>
              <a:gdLst/>
              <a:ahLst/>
              <a:cxnLst/>
              <a:rect r="r" b="b" t="t" l="l"/>
              <a:pathLst>
                <a:path h="6116447" w="10905617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10786491" y="0"/>
                  </a:lnTo>
                  <a:cubicBezTo>
                    <a:pt x="10852277" y="0"/>
                    <a:pt x="10905617" y="53340"/>
                    <a:pt x="10905617" y="119126"/>
                  </a:cubicBezTo>
                  <a:lnTo>
                    <a:pt x="10905617" y="5997321"/>
                  </a:lnTo>
                  <a:cubicBezTo>
                    <a:pt x="10905617" y="6063107"/>
                    <a:pt x="10852277" y="6116447"/>
                    <a:pt x="10786491" y="6116447"/>
                  </a:cubicBezTo>
                  <a:lnTo>
                    <a:pt x="119126" y="6116447"/>
                  </a:lnTo>
                  <a:cubicBezTo>
                    <a:pt x="53340" y="6116447"/>
                    <a:pt x="0" y="6063107"/>
                    <a:pt x="0" y="5997321"/>
                  </a:cubicBezTo>
                  <a:close/>
                </a:path>
              </a:pathLst>
            </a:custGeom>
            <a:solidFill>
              <a:srgbClr val="4F8C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339415" y="7446616"/>
            <a:ext cx="7931201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Five Innovation Pillars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39415" y="7729090"/>
            <a:ext cx="247945" cy="154934"/>
            <a:chOff x="0" y="0"/>
            <a:chExt cx="330594" cy="2065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0597" cy="206573"/>
            </a:xfrm>
            <a:custGeom>
              <a:avLst/>
              <a:gdLst/>
              <a:ahLst/>
              <a:cxnLst/>
              <a:rect r="r" b="b" t="t" l="l"/>
              <a:pathLst>
                <a:path h="206573" w="330597">
                  <a:moveTo>
                    <a:pt x="0" y="0"/>
                  </a:moveTo>
                  <a:lnTo>
                    <a:pt x="330597" y="0"/>
                  </a:lnTo>
                  <a:lnTo>
                    <a:pt x="330597" y="206573"/>
                  </a:lnTo>
                  <a:lnTo>
                    <a:pt x="0" y="2065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2" t="0" r="-30171" b="-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30594" cy="2161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339415" y="7920628"/>
            <a:ext cx="7931201" cy="19050"/>
            <a:chOff x="0" y="0"/>
            <a:chExt cx="10574934" cy="25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574909" cy="25400"/>
            </a:xfrm>
            <a:custGeom>
              <a:avLst/>
              <a:gdLst/>
              <a:ahLst/>
              <a:cxnLst/>
              <a:rect r="r" b="b" t="t" l="l"/>
              <a:pathLst>
                <a:path h="25400" w="10574909">
                  <a:moveTo>
                    <a:pt x="0" y="0"/>
                  </a:moveTo>
                  <a:lnTo>
                    <a:pt x="10574909" y="0"/>
                  </a:lnTo>
                  <a:lnTo>
                    <a:pt x="1057490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339415" y="8001600"/>
            <a:ext cx="7931201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Constraint Intelligence Engine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39415" y="8276330"/>
            <a:ext cx="7931201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Natural language → machine-checkable constraints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339415" y="8579939"/>
            <a:ext cx="247945" cy="154934"/>
            <a:chOff x="0" y="0"/>
            <a:chExt cx="330594" cy="20657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0597" cy="206573"/>
            </a:xfrm>
            <a:custGeom>
              <a:avLst/>
              <a:gdLst/>
              <a:ahLst/>
              <a:cxnLst/>
              <a:rect r="r" b="b" t="t" l="l"/>
              <a:pathLst>
                <a:path h="206573" w="330597">
                  <a:moveTo>
                    <a:pt x="0" y="0"/>
                  </a:moveTo>
                  <a:lnTo>
                    <a:pt x="330597" y="0"/>
                  </a:lnTo>
                  <a:lnTo>
                    <a:pt x="330597" y="206573"/>
                  </a:lnTo>
                  <a:lnTo>
                    <a:pt x="0" y="2065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2" t="0" r="-30171" b="-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30594" cy="2161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39415" y="8771487"/>
            <a:ext cx="7931201" cy="19050"/>
            <a:chOff x="0" y="0"/>
            <a:chExt cx="10574934" cy="25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574909" cy="25400"/>
            </a:xfrm>
            <a:custGeom>
              <a:avLst/>
              <a:gdLst/>
              <a:ahLst/>
              <a:cxnLst/>
              <a:rect r="r" b="b" t="t" l="l"/>
              <a:pathLst>
                <a:path h="25400" w="10574909">
                  <a:moveTo>
                    <a:pt x="0" y="0"/>
                  </a:moveTo>
                  <a:lnTo>
                    <a:pt x="10574909" y="0"/>
                  </a:lnTo>
                  <a:lnTo>
                    <a:pt x="1057490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339415" y="8852449"/>
            <a:ext cx="7931201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Risk-Aware Decision Engine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339415" y="9127179"/>
            <a:ext cx="7931201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Multi-objective scoring beyond price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339415" y="9430788"/>
            <a:ext cx="247945" cy="154934"/>
            <a:chOff x="0" y="0"/>
            <a:chExt cx="330594" cy="2065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0597" cy="206573"/>
            </a:xfrm>
            <a:custGeom>
              <a:avLst/>
              <a:gdLst/>
              <a:ahLst/>
              <a:cxnLst/>
              <a:rect r="r" b="b" t="t" l="l"/>
              <a:pathLst>
                <a:path h="206573" w="330597">
                  <a:moveTo>
                    <a:pt x="0" y="0"/>
                  </a:moveTo>
                  <a:lnTo>
                    <a:pt x="330597" y="0"/>
                  </a:lnTo>
                  <a:lnTo>
                    <a:pt x="330597" y="206573"/>
                  </a:lnTo>
                  <a:lnTo>
                    <a:pt x="0" y="2065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2" t="0" r="-30171" b="-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330594" cy="2161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39415" y="9622336"/>
            <a:ext cx="7931201" cy="19050"/>
            <a:chOff x="0" y="0"/>
            <a:chExt cx="10574934" cy="25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574909" cy="25400"/>
            </a:xfrm>
            <a:custGeom>
              <a:avLst/>
              <a:gdLst/>
              <a:ahLst/>
              <a:cxnLst/>
              <a:rect r="r" b="b" t="t" l="l"/>
              <a:pathLst>
                <a:path h="25400" w="10574909">
                  <a:moveTo>
                    <a:pt x="0" y="0"/>
                  </a:moveTo>
                  <a:lnTo>
                    <a:pt x="10574909" y="0"/>
                  </a:lnTo>
                  <a:lnTo>
                    <a:pt x="1057490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9339415" y="9703298"/>
            <a:ext cx="7931201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Why-Not Engine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339415" y="9978028"/>
            <a:ext cx="7931201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Structured rejection rationale for every alternative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339415" y="10281637"/>
            <a:ext cx="247945" cy="154934"/>
            <a:chOff x="0" y="0"/>
            <a:chExt cx="330594" cy="20657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30597" cy="206573"/>
            </a:xfrm>
            <a:custGeom>
              <a:avLst/>
              <a:gdLst/>
              <a:ahLst/>
              <a:cxnLst/>
              <a:rect r="r" b="b" t="t" l="l"/>
              <a:pathLst>
                <a:path h="206573" w="330597">
                  <a:moveTo>
                    <a:pt x="0" y="0"/>
                  </a:moveTo>
                  <a:lnTo>
                    <a:pt x="330597" y="0"/>
                  </a:lnTo>
                  <a:lnTo>
                    <a:pt x="330597" y="206573"/>
                  </a:lnTo>
                  <a:lnTo>
                    <a:pt x="0" y="2065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2" t="0" r="-30171" b="-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30594" cy="2161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339415" y="10473185"/>
            <a:ext cx="7931201" cy="19050"/>
            <a:chOff x="0" y="0"/>
            <a:chExt cx="10574934" cy="25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574909" cy="25400"/>
            </a:xfrm>
            <a:custGeom>
              <a:avLst/>
              <a:gdLst/>
              <a:ahLst/>
              <a:cxnLst/>
              <a:rect r="r" b="b" t="t" l="l"/>
              <a:pathLst>
                <a:path h="25400" w="10574909">
                  <a:moveTo>
                    <a:pt x="0" y="0"/>
                  </a:moveTo>
                  <a:lnTo>
                    <a:pt x="10574909" y="0"/>
                  </a:lnTo>
                  <a:lnTo>
                    <a:pt x="1057490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9339415" y="10554148"/>
            <a:ext cx="7931201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Authorization Firewall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339415" y="10828887"/>
            <a:ext cx="7931201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Architecturally separated policy enforcement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339415" y="11132496"/>
            <a:ext cx="247945" cy="154934"/>
            <a:chOff x="0" y="0"/>
            <a:chExt cx="330594" cy="20657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30597" cy="206573"/>
            </a:xfrm>
            <a:custGeom>
              <a:avLst/>
              <a:gdLst/>
              <a:ahLst/>
              <a:cxnLst/>
              <a:rect r="r" b="b" t="t" l="l"/>
              <a:pathLst>
                <a:path h="206573" w="330597">
                  <a:moveTo>
                    <a:pt x="0" y="0"/>
                  </a:moveTo>
                  <a:lnTo>
                    <a:pt x="330597" y="0"/>
                  </a:lnTo>
                  <a:lnTo>
                    <a:pt x="330597" y="206573"/>
                  </a:lnTo>
                  <a:lnTo>
                    <a:pt x="0" y="2065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2" t="0" r="-30171" b="-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330594" cy="2161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39415" y="11324034"/>
            <a:ext cx="7931201" cy="19050"/>
            <a:chOff x="0" y="0"/>
            <a:chExt cx="10574934" cy="25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574909" cy="25400"/>
            </a:xfrm>
            <a:custGeom>
              <a:avLst/>
              <a:gdLst/>
              <a:ahLst/>
              <a:cxnLst/>
              <a:rect r="r" b="b" t="t" l="l"/>
              <a:pathLst>
                <a:path h="25400" w="10574909">
                  <a:moveTo>
                    <a:pt x="0" y="0"/>
                  </a:moveTo>
                  <a:lnTo>
                    <a:pt x="10574909" y="0"/>
                  </a:lnTo>
                  <a:lnTo>
                    <a:pt x="1057490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9339415" y="11404997"/>
            <a:ext cx="7931201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Explainable Procurement Ledger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339415" y="11679736"/>
            <a:ext cx="7931201" cy="14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Full audit trail: request → execution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384" y="402336"/>
            <a:ext cx="6217920" cy="512064"/>
            <a:chOff x="0" y="0"/>
            <a:chExt cx="8290560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829056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00"/>
                </a:lnSpc>
              </a:pPr>
              <a:r>
                <a:rPr lang="en-US" sz="3500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Technology Stack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50976"/>
            <a:ext cx="12252960" cy="329184"/>
            <a:chOff x="0" y="0"/>
            <a:chExt cx="16337280" cy="4389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37280" cy="438912"/>
            </a:xfrm>
            <a:custGeom>
              <a:avLst/>
              <a:gdLst/>
              <a:ahLst/>
              <a:cxnLst/>
              <a:rect r="r" b="b" t="t" l="l"/>
              <a:pathLst>
                <a:path h="438912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5276" r="0" b="-67527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633728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68788B"/>
                  </a:solidFill>
                  <a:latin typeface="Aptos"/>
                  <a:ea typeface="Aptos"/>
                  <a:cs typeface="Aptos"/>
                  <a:sym typeface="Aptos"/>
                </a:rPr>
                <a:t>Enterprise-ready technologies powering ProcuraAI’s autonomous procurement workflow.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444752"/>
            <a:ext cx="2743200" cy="256032"/>
            <a:chOff x="0" y="0"/>
            <a:chExt cx="3657600" cy="3413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0" cy="341376"/>
            </a:xfrm>
            <a:custGeom>
              <a:avLst/>
              <a:gdLst/>
              <a:ahLst/>
              <a:cxnLst/>
              <a:rect r="r" b="b" t="t" l="l"/>
              <a:pathLst>
                <a:path h="34137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657600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 b="true">
                  <a:solidFill>
                    <a:srgbClr val="3182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CORE TECHNOLOGIES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1530" y="1780794"/>
            <a:ext cx="3863340" cy="1412748"/>
            <a:chOff x="0" y="0"/>
            <a:chExt cx="5151120" cy="18836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51120" cy="1883664"/>
            </a:xfrm>
            <a:custGeom>
              <a:avLst/>
              <a:gdLst/>
              <a:ahLst/>
              <a:cxnLst/>
              <a:rect r="r" b="b" t="t" l="l"/>
              <a:pathLst>
                <a:path h="1883664" w="5151120">
                  <a:moveTo>
                    <a:pt x="0" y="313944"/>
                  </a:moveTo>
                  <a:cubicBezTo>
                    <a:pt x="0" y="140589"/>
                    <a:pt x="140589" y="0"/>
                    <a:pt x="313944" y="0"/>
                  </a:cubicBezTo>
                  <a:lnTo>
                    <a:pt x="4837176" y="0"/>
                  </a:lnTo>
                  <a:cubicBezTo>
                    <a:pt x="5010531" y="0"/>
                    <a:pt x="5151120" y="140589"/>
                    <a:pt x="5151120" y="313944"/>
                  </a:cubicBezTo>
                  <a:lnTo>
                    <a:pt x="5151120" y="1569720"/>
                  </a:lnTo>
                  <a:cubicBezTo>
                    <a:pt x="5151120" y="1743075"/>
                    <a:pt x="5010531" y="1883664"/>
                    <a:pt x="4837176" y="1883664"/>
                  </a:cubicBezTo>
                  <a:lnTo>
                    <a:pt x="313944" y="1883664"/>
                  </a:lnTo>
                  <a:cubicBezTo>
                    <a:pt x="140589" y="1883664"/>
                    <a:pt x="0" y="1743075"/>
                    <a:pt x="0" y="1569720"/>
                  </a:cubicBezTo>
                  <a:close/>
                </a:path>
              </a:pathLst>
            </a:custGeom>
            <a:solidFill>
              <a:srgbClr val="F9FBFD"/>
            </a:solidFill>
            <a:ln w="22860" cap="sq">
              <a:solidFill>
                <a:srgbClr val="3182F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96315" y="2020443"/>
            <a:ext cx="604266" cy="604266"/>
            <a:chOff x="0" y="0"/>
            <a:chExt cx="805688" cy="8056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5688" cy="805688"/>
            </a:xfrm>
            <a:custGeom>
              <a:avLst/>
              <a:gdLst/>
              <a:ahLst/>
              <a:cxnLst/>
              <a:rect r="r" b="b" t="t" l="l"/>
              <a:pathLst>
                <a:path h="805688" w="805688">
                  <a:moveTo>
                    <a:pt x="0" y="402844"/>
                  </a:moveTo>
                  <a:cubicBezTo>
                    <a:pt x="0" y="180340"/>
                    <a:pt x="180340" y="0"/>
                    <a:pt x="402844" y="0"/>
                  </a:cubicBezTo>
                  <a:cubicBezTo>
                    <a:pt x="625348" y="0"/>
                    <a:pt x="805688" y="180340"/>
                    <a:pt x="805688" y="402844"/>
                  </a:cubicBezTo>
                  <a:cubicBezTo>
                    <a:pt x="805688" y="625348"/>
                    <a:pt x="625348" y="805688"/>
                    <a:pt x="402844" y="805688"/>
                  </a:cubicBezTo>
                  <a:cubicBezTo>
                    <a:pt x="180340" y="805688"/>
                    <a:pt x="0" y="625348"/>
                    <a:pt x="0" y="402844"/>
                  </a:cubicBezTo>
                  <a:close/>
                </a:path>
              </a:pathLst>
            </a:custGeom>
            <a:solidFill>
              <a:srgbClr val="3182F6"/>
            </a:solidFill>
            <a:ln w="19050" cap="sq">
              <a:solidFill>
                <a:srgbClr val="3182F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05840" y="2029968"/>
            <a:ext cx="585216" cy="585216"/>
            <a:chOff x="0" y="0"/>
            <a:chExt cx="780288" cy="7802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780288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6"/>
                </a:lnSpc>
              </a:pPr>
              <a:r>
                <a:rPr lang="en-US" sz="128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73936" y="1956816"/>
            <a:ext cx="2706624" cy="292608"/>
            <a:chOff x="0" y="0"/>
            <a:chExt cx="3608832" cy="3901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08832" cy="390144"/>
            </a:xfrm>
            <a:custGeom>
              <a:avLst/>
              <a:gdLst/>
              <a:ahLst/>
              <a:cxnLst/>
              <a:rect r="r" b="b" t="t" l="l"/>
              <a:pathLst>
                <a:path h="390144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608832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React.js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73936" y="2432304"/>
            <a:ext cx="2706624" cy="512064"/>
            <a:chOff x="0" y="0"/>
            <a:chExt cx="3608832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08832" cy="682752"/>
            </a:xfrm>
            <a:custGeom>
              <a:avLst/>
              <a:gdLst/>
              <a:ahLst/>
              <a:cxnLst/>
              <a:rect r="r" b="b" t="t" l="l"/>
              <a:pathLst>
                <a:path h="682752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60883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6"/>
                </a:lnSpc>
              </a:pPr>
              <a:r>
                <a:rPr lang="en-US" sz="980">
                  <a:solidFill>
                    <a:srgbClr val="68788B"/>
                  </a:solidFill>
                  <a:latin typeface="Aptos"/>
                  <a:ea typeface="Aptos"/>
                  <a:cs typeface="Aptos"/>
                  <a:sym typeface="Aptos"/>
                </a:rPr>
                <a:t>User Dashboard &amp; Procurement Portal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017770" y="1780794"/>
            <a:ext cx="3863340" cy="1412748"/>
            <a:chOff x="0" y="0"/>
            <a:chExt cx="5151120" cy="18836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51120" cy="1883664"/>
            </a:xfrm>
            <a:custGeom>
              <a:avLst/>
              <a:gdLst/>
              <a:ahLst/>
              <a:cxnLst/>
              <a:rect r="r" b="b" t="t" l="l"/>
              <a:pathLst>
                <a:path h="1883664" w="5151120">
                  <a:moveTo>
                    <a:pt x="0" y="313944"/>
                  </a:moveTo>
                  <a:cubicBezTo>
                    <a:pt x="0" y="140589"/>
                    <a:pt x="140589" y="0"/>
                    <a:pt x="313944" y="0"/>
                  </a:cubicBezTo>
                  <a:lnTo>
                    <a:pt x="4837176" y="0"/>
                  </a:lnTo>
                  <a:cubicBezTo>
                    <a:pt x="5010531" y="0"/>
                    <a:pt x="5151120" y="140589"/>
                    <a:pt x="5151120" y="313944"/>
                  </a:cubicBezTo>
                  <a:lnTo>
                    <a:pt x="5151120" y="1569720"/>
                  </a:lnTo>
                  <a:cubicBezTo>
                    <a:pt x="5151120" y="1743075"/>
                    <a:pt x="5010531" y="1883664"/>
                    <a:pt x="4837176" y="1883664"/>
                  </a:cubicBezTo>
                  <a:lnTo>
                    <a:pt x="313944" y="1883664"/>
                  </a:lnTo>
                  <a:cubicBezTo>
                    <a:pt x="140589" y="1883664"/>
                    <a:pt x="0" y="1743075"/>
                    <a:pt x="0" y="1569720"/>
                  </a:cubicBezTo>
                  <a:close/>
                </a:path>
              </a:pathLst>
            </a:custGeom>
            <a:solidFill>
              <a:srgbClr val="F9FBFD"/>
            </a:solidFill>
            <a:ln w="22860" cap="sq">
              <a:solidFill>
                <a:srgbClr val="12B1A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202555" y="2020443"/>
            <a:ext cx="604266" cy="604266"/>
            <a:chOff x="0" y="0"/>
            <a:chExt cx="805688" cy="8056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5688" cy="805688"/>
            </a:xfrm>
            <a:custGeom>
              <a:avLst/>
              <a:gdLst/>
              <a:ahLst/>
              <a:cxnLst/>
              <a:rect r="r" b="b" t="t" l="l"/>
              <a:pathLst>
                <a:path h="805688" w="805688">
                  <a:moveTo>
                    <a:pt x="0" y="402844"/>
                  </a:moveTo>
                  <a:cubicBezTo>
                    <a:pt x="0" y="180340"/>
                    <a:pt x="180340" y="0"/>
                    <a:pt x="402844" y="0"/>
                  </a:cubicBezTo>
                  <a:cubicBezTo>
                    <a:pt x="625348" y="0"/>
                    <a:pt x="805688" y="180340"/>
                    <a:pt x="805688" y="402844"/>
                  </a:cubicBezTo>
                  <a:cubicBezTo>
                    <a:pt x="805688" y="625348"/>
                    <a:pt x="625348" y="805688"/>
                    <a:pt x="402844" y="805688"/>
                  </a:cubicBezTo>
                  <a:cubicBezTo>
                    <a:pt x="180340" y="805688"/>
                    <a:pt x="0" y="625348"/>
                    <a:pt x="0" y="402844"/>
                  </a:cubicBezTo>
                  <a:close/>
                </a:path>
              </a:pathLst>
            </a:custGeom>
            <a:solidFill>
              <a:srgbClr val="12B1A0"/>
            </a:solidFill>
            <a:ln w="19050" cap="sq">
              <a:solidFill>
                <a:srgbClr val="12B1A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212080" y="2029968"/>
            <a:ext cx="585216" cy="585216"/>
            <a:chOff x="0" y="0"/>
            <a:chExt cx="780288" cy="7802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780288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6"/>
                </a:lnSpc>
              </a:pPr>
              <a:r>
                <a:rPr lang="en-US" sz="128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980176" y="1956816"/>
            <a:ext cx="2706624" cy="292608"/>
            <a:chOff x="0" y="0"/>
            <a:chExt cx="3608832" cy="3901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08832" cy="390144"/>
            </a:xfrm>
            <a:custGeom>
              <a:avLst/>
              <a:gdLst/>
              <a:ahLst/>
              <a:cxnLst/>
              <a:rect r="r" b="b" t="t" l="l"/>
              <a:pathLst>
                <a:path h="390144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608832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FastAPI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980176" y="2432304"/>
            <a:ext cx="2706624" cy="512064"/>
            <a:chOff x="0" y="0"/>
            <a:chExt cx="3608832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08832" cy="682752"/>
            </a:xfrm>
            <a:custGeom>
              <a:avLst/>
              <a:gdLst/>
              <a:ahLst/>
              <a:cxnLst/>
              <a:rect r="r" b="b" t="t" l="l"/>
              <a:pathLst>
                <a:path h="682752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60883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6"/>
                </a:lnSpc>
              </a:pPr>
              <a:r>
                <a:rPr lang="en-US" sz="980">
                  <a:solidFill>
                    <a:srgbClr val="68788B"/>
                  </a:solidFill>
                  <a:latin typeface="Aptos"/>
                  <a:ea typeface="Aptos"/>
                  <a:cs typeface="Aptos"/>
                  <a:sym typeface="Aptos"/>
                </a:rPr>
                <a:t>Backend APIs &amp; Business Logic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224010" y="1780794"/>
            <a:ext cx="3863340" cy="1412748"/>
            <a:chOff x="0" y="0"/>
            <a:chExt cx="5151120" cy="18836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51120" cy="1883664"/>
            </a:xfrm>
            <a:custGeom>
              <a:avLst/>
              <a:gdLst/>
              <a:ahLst/>
              <a:cxnLst/>
              <a:rect r="r" b="b" t="t" l="l"/>
              <a:pathLst>
                <a:path h="1883664" w="5151120">
                  <a:moveTo>
                    <a:pt x="0" y="313944"/>
                  </a:moveTo>
                  <a:cubicBezTo>
                    <a:pt x="0" y="140589"/>
                    <a:pt x="140589" y="0"/>
                    <a:pt x="313944" y="0"/>
                  </a:cubicBezTo>
                  <a:lnTo>
                    <a:pt x="4837176" y="0"/>
                  </a:lnTo>
                  <a:cubicBezTo>
                    <a:pt x="5010531" y="0"/>
                    <a:pt x="5151120" y="140589"/>
                    <a:pt x="5151120" y="313944"/>
                  </a:cubicBezTo>
                  <a:lnTo>
                    <a:pt x="5151120" y="1569720"/>
                  </a:lnTo>
                  <a:cubicBezTo>
                    <a:pt x="5151120" y="1743075"/>
                    <a:pt x="5010531" y="1883664"/>
                    <a:pt x="4837176" y="1883664"/>
                  </a:cubicBezTo>
                  <a:lnTo>
                    <a:pt x="313944" y="1883664"/>
                  </a:lnTo>
                  <a:cubicBezTo>
                    <a:pt x="140589" y="1883664"/>
                    <a:pt x="0" y="1743075"/>
                    <a:pt x="0" y="1569720"/>
                  </a:cubicBezTo>
                  <a:close/>
                </a:path>
              </a:pathLst>
            </a:custGeom>
            <a:solidFill>
              <a:srgbClr val="F9FBFD"/>
            </a:solidFill>
            <a:ln w="22860" cap="sq">
              <a:solidFill>
                <a:srgbClr val="8253E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408795" y="2020443"/>
            <a:ext cx="604266" cy="604266"/>
            <a:chOff x="0" y="0"/>
            <a:chExt cx="805688" cy="8056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5688" cy="805688"/>
            </a:xfrm>
            <a:custGeom>
              <a:avLst/>
              <a:gdLst/>
              <a:ahLst/>
              <a:cxnLst/>
              <a:rect r="r" b="b" t="t" l="l"/>
              <a:pathLst>
                <a:path h="805688" w="805688">
                  <a:moveTo>
                    <a:pt x="0" y="402844"/>
                  </a:moveTo>
                  <a:cubicBezTo>
                    <a:pt x="0" y="180340"/>
                    <a:pt x="180340" y="0"/>
                    <a:pt x="402844" y="0"/>
                  </a:cubicBezTo>
                  <a:cubicBezTo>
                    <a:pt x="625348" y="0"/>
                    <a:pt x="805688" y="180340"/>
                    <a:pt x="805688" y="402844"/>
                  </a:cubicBezTo>
                  <a:cubicBezTo>
                    <a:pt x="805688" y="625348"/>
                    <a:pt x="625348" y="805688"/>
                    <a:pt x="402844" y="805688"/>
                  </a:cubicBezTo>
                  <a:cubicBezTo>
                    <a:pt x="180340" y="805688"/>
                    <a:pt x="0" y="625348"/>
                    <a:pt x="0" y="402844"/>
                  </a:cubicBezTo>
                  <a:close/>
                </a:path>
              </a:pathLst>
            </a:custGeom>
            <a:solidFill>
              <a:srgbClr val="8253E0"/>
            </a:solidFill>
            <a:ln w="19050" cap="sq">
              <a:solidFill>
                <a:srgbClr val="8253E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418320" y="2029968"/>
            <a:ext cx="585216" cy="585216"/>
            <a:chOff x="0" y="0"/>
            <a:chExt cx="780288" cy="7802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780288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6"/>
                </a:lnSpc>
              </a:pPr>
              <a:r>
                <a:rPr lang="en-US" sz="128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186416" y="1956816"/>
            <a:ext cx="2706624" cy="292608"/>
            <a:chOff x="0" y="0"/>
            <a:chExt cx="3608832" cy="3901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08832" cy="390144"/>
            </a:xfrm>
            <a:custGeom>
              <a:avLst/>
              <a:gdLst/>
              <a:ahLst/>
              <a:cxnLst/>
              <a:rect r="r" b="b" t="t" l="l"/>
              <a:pathLst>
                <a:path h="390144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3608832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LangGraph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186416" y="2432304"/>
            <a:ext cx="2706624" cy="512064"/>
            <a:chOff x="0" y="0"/>
            <a:chExt cx="3608832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08832" cy="682752"/>
            </a:xfrm>
            <a:custGeom>
              <a:avLst/>
              <a:gdLst/>
              <a:ahLst/>
              <a:cxnLst/>
              <a:rect r="r" b="b" t="t" l="l"/>
              <a:pathLst>
                <a:path h="682752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60883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6"/>
                </a:lnSpc>
              </a:pPr>
              <a:r>
                <a:rPr lang="en-US" sz="980">
                  <a:solidFill>
                    <a:srgbClr val="68788B"/>
                  </a:solidFill>
                  <a:latin typeface="Aptos"/>
                  <a:ea typeface="Aptos"/>
                  <a:cs typeface="Aptos"/>
                  <a:sym typeface="Aptos"/>
                </a:rPr>
                <a:t>Multi-Agent Workflow Orchestration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430250" y="1780794"/>
            <a:ext cx="3863340" cy="1412748"/>
            <a:chOff x="0" y="0"/>
            <a:chExt cx="5151120" cy="18836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51120" cy="1883664"/>
            </a:xfrm>
            <a:custGeom>
              <a:avLst/>
              <a:gdLst/>
              <a:ahLst/>
              <a:cxnLst/>
              <a:rect r="r" b="b" t="t" l="l"/>
              <a:pathLst>
                <a:path h="1883664" w="5151120">
                  <a:moveTo>
                    <a:pt x="0" y="313944"/>
                  </a:moveTo>
                  <a:cubicBezTo>
                    <a:pt x="0" y="140589"/>
                    <a:pt x="140589" y="0"/>
                    <a:pt x="313944" y="0"/>
                  </a:cubicBezTo>
                  <a:lnTo>
                    <a:pt x="4837176" y="0"/>
                  </a:lnTo>
                  <a:cubicBezTo>
                    <a:pt x="5010531" y="0"/>
                    <a:pt x="5151120" y="140589"/>
                    <a:pt x="5151120" y="313944"/>
                  </a:cubicBezTo>
                  <a:lnTo>
                    <a:pt x="5151120" y="1569720"/>
                  </a:lnTo>
                  <a:cubicBezTo>
                    <a:pt x="5151120" y="1743075"/>
                    <a:pt x="5010531" y="1883664"/>
                    <a:pt x="4837176" y="1883664"/>
                  </a:cubicBezTo>
                  <a:lnTo>
                    <a:pt x="313944" y="1883664"/>
                  </a:lnTo>
                  <a:cubicBezTo>
                    <a:pt x="140589" y="1883664"/>
                    <a:pt x="0" y="1743075"/>
                    <a:pt x="0" y="1569720"/>
                  </a:cubicBezTo>
                  <a:close/>
                </a:path>
              </a:pathLst>
            </a:custGeom>
            <a:solidFill>
              <a:srgbClr val="F9FBFD"/>
            </a:solidFill>
            <a:ln w="22860" cap="sq">
              <a:solidFill>
                <a:srgbClr val="EBA32C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615035" y="2020443"/>
            <a:ext cx="604266" cy="604266"/>
            <a:chOff x="0" y="0"/>
            <a:chExt cx="805688" cy="8056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05688" cy="805688"/>
            </a:xfrm>
            <a:custGeom>
              <a:avLst/>
              <a:gdLst/>
              <a:ahLst/>
              <a:cxnLst/>
              <a:rect r="r" b="b" t="t" l="l"/>
              <a:pathLst>
                <a:path h="805688" w="805688">
                  <a:moveTo>
                    <a:pt x="0" y="402844"/>
                  </a:moveTo>
                  <a:cubicBezTo>
                    <a:pt x="0" y="180340"/>
                    <a:pt x="180340" y="0"/>
                    <a:pt x="402844" y="0"/>
                  </a:cubicBezTo>
                  <a:cubicBezTo>
                    <a:pt x="625348" y="0"/>
                    <a:pt x="805688" y="180340"/>
                    <a:pt x="805688" y="402844"/>
                  </a:cubicBezTo>
                  <a:cubicBezTo>
                    <a:pt x="805688" y="625348"/>
                    <a:pt x="625348" y="805688"/>
                    <a:pt x="402844" y="805688"/>
                  </a:cubicBezTo>
                  <a:cubicBezTo>
                    <a:pt x="180340" y="805688"/>
                    <a:pt x="0" y="625348"/>
                    <a:pt x="0" y="402844"/>
                  </a:cubicBezTo>
                  <a:close/>
                </a:path>
              </a:pathLst>
            </a:custGeom>
            <a:solidFill>
              <a:srgbClr val="EBA32C"/>
            </a:solidFill>
            <a:ln w="19050" cap="sq">
              <a:solidFill>
                <a:srgbClr val="EBA32C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3624560" y="2029968"/>
            <a:ext cx="585216" cy="585216"/>
            <a:chOff x="0" y="0"/>
            <a:chExt cx="780288" cy="7802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780288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6"/>
                </a:lnSpc>
              </a:pPr>
              <a:r>
                <a:rPr lang="en-US" sz="128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392656" y="1956816"/>
            <a:ext cx="2706624" cy="292608"/>
            <a:chOff x="0" y="0"/>
            <a:chExt cx="3608832" cy="39014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08832" cy="390144"/>
            </a:xfrm>
            <a:custGeom>
              <a:avLst/>
              <a:gdLst/>
              <a:ahLst/>
              <a:cxnLst/>
              <a:rect r="r" b="b" t="t" l="l"/>
              <a:pathLst>
                <a:path h="390144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608832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OpenRouter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392656" y="2432304"/>
            <a:ext cx="2706624" cy="512064"/>
            <a:chOff x="0" y="0"/>
            <a:chExt cx="3608832" cy="68275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08832" cy="682752"/>
            </a:xfrm>
            <a:custGeom>
              <a:avLst/>
              <a:gdLst/>
              <a:ahLst/>
              <a:cxnLst/>
              <a:rect r="r" b="b" t="t" l="l"/>
              <a:pathLst>
                <a:path h="682752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360883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6"/>
                </a:lnSpc>
              </a:pPr>
              <a:r>
                <a:rPr lang="en-US" sz="980">
                  <a:solidFill>
                    <a:srgbClr val="68788B"/>
                  </a:solidFill>
                  <a:latin typeface="Aptos"/>
                  <a:ea typeface="Aptos"/>
                  <a:cs typeface="Aptos"/>
                  <a:sym typeface="Aptos"/>
                </a:rPr>
                <a:t>Reasoning &amp; Natural Language Understanding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11530" y="3573018"/>
            <a:ext cx="3863340" cy="1412748"/>
            <a:chOff x="0" y="0"/>
            <a:chExt cx="5151120" cy="18836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51120" cy="1883664"/>
            </a:xfrm>
            <a:custGeom>
              <a:avLst/>
              <a:gdLst/>
              <a:ahLst/>
              <a:cxnLst/>
              <a:rect r="r" b="b" t="t" l="l"/>
              <a:pathLst>
                <a:path h="1883664" w="5151120">
                  <a:moveTo>
                    <a:pt x="0" y="313944"/>
                  </a:moveTo>
                  <a:cubicBezTo>
                    <a:pt x="0" y="140589"/>
                    <a:pt x="140589" y="0"/>
                    <a:pt x="313944" y="0"/>
                  </a:cubicBezTo>
                  <a:lnTo>
                    <a:pt x="4837176" y="0"/>
                  </a:lnTo>
                  <a:cubicBezTo>
                    <a:pt x="5010531" y="0"/>
                    <a:pt x="5151120" y="140589"/>
                    <a:pt x="5151120" y="313944"/>
                  </a:cubicBezTo>
                  <a:lnTo>
                    <a:pt x="5151120" y="1569720"/>
                  </a:lnTo>
                  <a:cubicBezTo>
                    <a:pt x="5151120" y="1743075"/>
                    <a:pt x="5010531" y="1883664"/>
                    <a:pt x="4837176" y="1883664"/>
                  </a:cubicBezTo>
                  <a:lnTo>
                    <a:pt x="313944" y="1883664"/>
                  </a:lnTo>
                  <a:cubicBezTo>
                    <a:pt x="140589" y="1883664"/>
                    <a:pt x="0" y="1743075"/>
                    <a:pt x="0" y="1569720"/>
                  </a:cubicBezTo>
                  <a:close/>
                </a:path>
              </a:pathLst>
            </a:custGeom>
            <a:solidFill>
              <a:srgbClr val="F9FBFD"/>
            </a:solidFill>
            <a:ln w="22860" cap="sq">
              <a:solidFill>
                <a:srgbClr val="3182F6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96315" y="3812667"/>
            <a:ext cx="604266" cy="604266"/>
            <a:chOff x="0" y="0"/>
            <a:chExt cx="805688" cy="8056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05688" cy="805688"/>
            </a:xfrm>
            <a:custGeom>
              <a:avLst/>
              <a:gdLst/>
              <a:ahLst/>
              <a:cxnLst/>
              <a:rect r="r" b="b" t="t" l="l"/>
              <a:pathLst>
                <a:path h="805688" w="805688">
                  <a:moveTo>
                    <a:pt x="0" y="402844"/>
                  </a:moveTo>
                  <a:cubicBezTo>
                    <a:pt x="0" y="180340"/>
                    <a:pt x="180340" y="0"/>
                    <a:pt x="402844" y="0"/>
                  </a:cubicBezTo>
                  <a:cubicBezTo>
                    <a:pt x="625348" y="0"/>
                    <a:pt x="805688" y="180340"/>
                    <a:pt x="805688" y="402844"/>
                  </a:cubicBezTo>
                  <a:cubicBezTo>
                    <a:pt x="805688" y="625348"/>
                    <a:pt x="625348" y="805688"/>
                    <a:pt x="402844" y="805688"/>
                  </a:cubicBezTo>
                  <a:cubicBezTo>
                    <a:pt x="180340" y="805688"/>
                    <a:pt x="0" y="625348"/>
                    <a:pt x="0" y="402844"/>
                  </a:cubicBezTo>
                  <a:close/>
                </a:path>
              </a:pathLst>
            </a:custGeom>
            <a:solidFill>
              <a:srgbClr val="3182F6"/>
            </a:solidFill>
            <a:ln w="19050" cap="sq">
              <a:solidFill>
                <a:srgbClr val="3182F6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005840" y="3822192"/>
            <a:ext cx="585216" cy="585216"/>
            <a:chOff x="0" y="0"/>
            <a:chExt cx="780288" cy="7802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780288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6"/>
                </a:lnSpc>
              </a:pPr>
              <a:r>
                <a:rPr lang="en-US" sz="128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773936" y="3749040"/>
            <a:ext cx="2706624" cy="292608"/>
            <a:chOff x="0" y="0"/>
            <a:chExt cx="3608832" cy="39014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08832" cy="390144"/>
            </a:xfrm>
            <a:custGeom>
              <a:avLst/>
              <a:gdLst/>
              <a:ahLst/>
              <a:cxnLst/>
              <a:rect r="r" b="b" t="t" l="l"/>
              <a:pathLst>
                <a:path h="390144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608832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PostgreSQL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773936" y="4224528"/>
            <a:ext cx="2706624" cy="512064"/>
            <a:chOff x="0" y="0"/>
            <a:chExt cx="3608832" cy="6827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08832" cy="682752"/>
            </a:xfrm>
            <a:custGeom>
              <a:avLst/>
              <a:gdLst/>
              <a:ahLst/>
              <a:cxnLst/>
              <a:rect r="r" b="b" t="t" l="l"/>
              <a:pathLst>
                <a:path h="682752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60883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6"/>
                </a:lnSpc>
              </a:pPr>
              <a:r>
                <a:rPr lang="en-US" sz="980">
                  <a:solidFill>
                    <a:srgbClr val="68788B"/>
                  </a:solidFill>
                  <a:latin typeface="Aptos"/>
                  <a:ea typeface="Aptos"/>
                  <a:cs typeface="Aptos"/>
                  <a:sym typeface="Aptos"/>
                </a:rPr>
                <a:t>Structured Procurement Data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017770" y="3573018"/>
            <a:ext cx="3863340" cy="1412748"/>
            <a:chOff x="0" y="0"/>
            <a:chExt cx="5151120" cy="18836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151120" cy="1883664"/>
            </a:xfrm>
            <a:custGeom>
              <a:avLst/>
              <a:gdLst/>
              <a:ahLst/>
              <a:cxnLst/>
              <a:rect r="r" b="b" t="t" l="l"/>
              <a:pathLst>
                <a:path h="1883664" w="5151120">
                  <a:moveTo>
                    <a:pt x="0" y="313944"/>
                  </a:moveTo>
                  <a:cubicBezTo>
                    <a:pt x="0" y="140589"/>
                    <a:pt x="140589" y="0"/>
                    <a:pt x="313944" y="0"/>
                  </a:cubicBezTo>
                  <a:lnTo>
                    <a:pt x="4837176" y="0"/>
                  </a:lnTo>
                  <a:cubicBezTo>
                    <a:pt x="5010531" y="0"/>
                    <a:pt x="5151120" y="140589"/>
                    <a:pt x="5151120" y="313944"/>
                  </a:cubicBezTo>
                  <a:lnTo>
                    <a:pt x="5151120" y="1569720"/>
                  </a:lnTo>
                  <a:cubicBezTo>
                    <a:pt x="5151120" y="1743075"/>
                    <a:pt x="5010531" y="1883664"/>
                    <a:pt x="4837176" y="1883664"/>
                  </a:cubicBezTo>
                  <a:lnTo>
                    <a:pt x="313944" y="1883664"/>
                  </a:lnTo>
                  <a:cubicBezTo>
                    <a:pt x="140589" y="1883664"/>
                    <a:pt x="0" y="1743075"/>
                    <a:pt x="0" y="1569720"/>
                  </a:cubicBezTo>
                  <a:close/>
                </a:path>
              </a:pathLst>
            </a:custGeom>
            <a:solidFill>
              <a:srgbClr val="F9FBFD"/>
            </a:solidFill>
            <a:ln w="22860" cap="sq">
              <a:solidFill>
                <a:srgbClr val="8253E0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5202555" y="3812667"/>
            <a:ext cx="604266" cy="604266"/>
            <a:chOff x="0" y="0"/>
            <a:chExt cx="805688" cy="80568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05688" cy="805688"/>
            </a:xfrm>
            <a:custGeom>
              <a:avLst/>
              <a:gdLst/>
              <a:ahLst/>
              <a:cxnLst/>
              <a:rect r="r" b="b" t="t" l="l"/>
              <a:pathLst>
                <a:path h="805688" w="805688">
                  <a:moveTo>
                    <a:pt x="0" y="402844"/>
                  </a:moveTo>
                  <a:cubicBezTo>
                    <a:pt x="0" y="180340"/>
                    <a:pt x="180340" y="0"/>
                    <a:pt x="402844" y="0"/>
                  </a:cubicBezTo>
                  <a:cubicBezTo>
                    <a:pt x="625348" y="0"/>
                    <a:pt x="805688" y="180340"/>
                    <a:pt x="805688" y="402844"/>
                  </a:cubicBezTo>
                  <a:cubicBezTo>
                    <a:pt x="805688" y="625348"/>
                    <a:pt x="625348" y="805688"/>
                    <a:pt x="402844" y="805688"/>
                  </a:cubicBezTo>
                  <a:cubicBezTo>
                    <a:pt x="180340" y="805688"/>
                    <a:pt x="0" y="625348"/>
                    <a:pt x="0" y="402844"/>
                  </a:cubicBezTo>
                  <a:close/>
                </a:path>
              </a:pathLst>
            </a:custGeom>
            <a:solidFill>
              <a:srgbClr val="8253E0"/>
            </a:solidFill>
            <a:ln w="19050" cap="sq">
              <a:solidFill>
                <a:srgbClr val="8253E0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5212080" y="3822192"/>
            <a:ext cx="585216" cy="585216"/>
            <a:chOff x="0" y="0"/>
            <a:chExt cx="780288" cy="7802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780288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6"/>
                </a:lnSpc>
              </a:pPr>
              <a:r>
                <a:rPr lang="en-US" sz="128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980176" y="3749040"/>
            <a:ext cx="2706624" cy="292608"/>
            <a:chOff x="0" y="0"/>
            <a:chExt cx="3608832" cy="39014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608832" cy="390144"/>
            </a:xfrm>
            <a:custGeom>
              <a:avLst/>
              <a:gdLst/>
              <a:ahLst/>
              <a:cxnLst/>
              <a:rect r="r" b="b" t="t" l="l"/>
              <a:pathLst>
                <a:path h="390144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3608832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ChromaDB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980176" y="4224528"/>
            <a:ext cx="2706624" cy="512064"/>
            <a:chOff x="0" y="0"/>
            <a:chExt cx="3608832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08832" cy="682752"/>
            </a:xfrm>
            <a:custGeom>
              <a:avLst/>
              <a:gdLst/>
              <a:ahLst/>
              <a:cxnLst/>
              <a:rect r="r" b="b" t="t" l="l"/>
              <a:pathLst>
                <a:path h="682752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360883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6"/>
                </a:lnSpc>
              </a:pPr>
              <a:r>
                <a:rPr lang="en-US" sz="980">
                  <a:solidFill>
                    <a:srgbClr val="68788B"/>
                  </a:solidFill>
                  <a:latin typeface="Aptos"/>
                  <a:ea typeface="Aptos"/>
                  <a:cs typeface="Aptos"/>
                  <a:sym typeface="Aptos"/>
                </a:rPr>
                <a:t>Vendor Knowledge &amp; Semantic Search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224010" y="3573018"/>
            <a:ext cx="3863340" cy="1412748"/>
            <a:chOff x="0" y="0"/>
            <a:chExt cx="5151120" cy="18836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151120" cy="1883664"/>
            </a:xfrm>
            <a:custGeom>
              <a:avLst/>
              <a:gdLst/>
              <a:ahLst/>
              <a:cxnLst/>
              <a:rect r="r" b="b" t="t" l="l"/>
              <a:pathLst>
                <a:path h="1883664" w="5151120">
                  <a:moveTo>
                    <a:pt x="0" y="313944"/>
                  </a:moveTo>
                  <a:cubicBezTo>
                    <a:pt x="0" y="140589"/>
                    <a:pt x="140589" y="0"/>
                    <a:pt x="313944" y="0"/>
                  </a:cubicBezTo>
                  <a:lnTo>
                    <a:pt x="4837176" y="0"/>
                  </a:lnTo>
                  <a:cubicBezTo>
                    <a:pt x="5010531" y="0"/>
                    <a:pt x="5151120" y="140589"/>
                    <a:pt x="5151120" y="313944"/>
                  </a:cubicBezTo>
                  <a:lnTo>
                    <a:pt x="5151120" y="1569720"/>
                  </a:lnTo>
                  <a:cubicBezTo>
                    <a:pt x="5151120" y="1743075"/>
                    <a:pt x="5010531" y="1883664"/>
                    <a:pt x="4837176" y="1883664"/>
                  </a:cubicBezTo>
                  <a:lnTo>
                    <a:pt x="313944" y="1883664"/>
                  </a:lnTo>
                  <a:cubicBezTo>
                    <a:pt x="140589" y="1883664"/>
                    <a:pt x="0" y="1743075"/>
                    <a:pt x="0" y="1569720"/>
                  </a:cubicBezTo>
                  <a:close/>
                </a:path>
              </a:pathLst>
            </a:custGeom>
            <a:solidFill>
              <a:srgbClr val="F9FBFD"/>
            </a:solidFill>
            <a:ln w="22860" cap="sq">
              <a:solidFill>
                <a:srgbClr val="12B1A0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9408795" y="3812667"/>
            <a:ext cx="604266" cy="604266"/>
            <a:chOff x="0" y="0"/>
            <a:chExt cx="805688" cy="80568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05688" cy="805688"/>
            </a:xfrm>
            <a:custGeom>
              <a:avLst/>
              <a:gdLst/>
              <a:ahLst/>
              <a:cxnLst/>
              <a:rect r="r" b="b" t="t" l="l"/>
              <a:pathLst>
                <a:path h="805688" w="805688">
                  <a:moveTo>
                    <a:pt x="0" y="402844"/>
                  </a:moveTo>
                  <a:cubicBezTo>
                    <a:pt x="0" y="180340"/>
                    <a:pt x="180340" y="0"/>
                    <a:pt x="402844" y="0"/>
                  </a:cubicBezTo>
                  <a:cubicBezTo>
                    <a:pt x="625348" y="0"/>
                    <a:pt x="805688" y="180340"/>
                    <a:pt x="805688" y="402844"/>
                  </a:cubicBezTo>
                  <a:cubicBezTo>
                    <a:pt x="805688" y="625348"/>
                    <a:pt x="625348" y="805688"/>
                    <a:pt x="402844" y="805688"/>
                  </a:cubicBezTo>
                  <a:cubicBezTo>
                    <a:pt x="180340" y="805688"/>
                    <a:pt x="0" y="625348"/>
                    <a:pt x="0" y="402844"/>
                  </a:cubicBezTo>
                  <a:close/>
                </a:path>
              </a:pathLst>
            </a:custGeom>
            <a:solidFill>
              <a:srgbClr val="12B1A0"/>
            </a:solidFill>
            <a:ln w="19050" cap="sq">
              <a:solidFill>
                <a:srgbClr val="12B1A0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9418320" y="3822192"/>
            <a:ext cx="585216" cy="585216"/>
            <a:chOff x="0" y="0"/>
            <a:chExt cx="780288" cy="78028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780288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6"/>
                </a:lnSpc>
              </a:pPr>
              <a:r>
                <a:rPr lang="en-US" sz="128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186416" y="3749040"/>
            <a:ext cx="2706624" cy="292608"/>
            <a:chOff x="0" y="0"/>
            <a:chExt cx="3608832" cy="39014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608832" cy="390144"/>
            </a:xfrm>
            <a:custGeom>
              <a:avLst/>
              <a:gdLst/>
              <a:ahLst/>
              <a:cxnLst/>
              <a:rect r="r" b="b" t="t" l="l"/>
              <a:pathLst>
                <a:path h="390144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3608832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Vendor APIs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0186416" y="4224528"/>
            <a:ext cx="2706624" cy="512064"/>
            <a:chOff x="0" y="0"/>
            <a:chExt cx="3608832" cy="68275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608832" cy="682752"/>
            </a:xfrm>
            <a:custGeom>
              <a:avLst/>
              <a:gdLst/>
              <a:ahLst/>
              <a:cxnLst/>
              <a:rect r="r" b="b" t="t" l="l"/>
              <a:pathLst>
                <a:path h="682752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360883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6"/>
                </a:lnSpc>
              </a:pPr>
              <a:r>
                <a:rPr lang="en-US" sz="980">
                  <a:solidFill>
                    <a:srgbClr val="68788B"/>
                  </a:solidFill>
                  <a:latin typeface="Aptos"/>
                  <a:ea typeface="Aptos"/>
                  <a:cs typeface="Aptos"/>
                  <a:sym typeface="Aptos"/>
                </a:rPr>
                <a:t>Product &amp; Price Discovery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3430250" y="3573018"/>
            <a:ext cx="3863340" cy="1412748"/>
            <a:chOff x="0" y="0"/>
            <a:chExt cx="5151120" cy="188366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151120" cy="1883664"/>
            </a:xfrm>
            <a:custGeom>
              <a:avLst/>
              <a:gdLst/>
              <a:ahLst/>
              <a:cxnLst/>
              <a:rect r="r" b="b" t="t" l="l"/>
              <a:pathLst>
                <a:path h="1883664" w="5151120">
                  <a:moveTo>
                    <a:pt x="0" y="313944"/>
                  </a:moveTo>
                  <a:cubicBezTo>
                    <a:pt x="0" y="140589"/>
                    <a:pt x="140589" y="0"/>
                    <a:pt x="313944" y="0"/>
                  </a:cubicBezTo>
                  <a:lnTo>
                    <a:pt x="4837176" y="0"/>
                  </a:lnTo>
                  <a:cubicBezTo>
                    <a:pt x="5010531" y="0"/>
                    <a:pt x="5151120" y="140589"/>
                    <a:pt x="5151120" y="313944"/>
                  </a:cubicBezTo>
                  <a:lnTo>
                    <a:pt x="5151120" y="1569720"/>
                  </a:lnTo>
                  <a:cubicBezTo>
                    <a:pt x="5151120" y="1743075"/>
                    <a:pt x="5010531" y="1883664"/>
                    <a:pt x="4837176" y="1883664"/>
                  </a:cubicBezTo>
                  <a:lnTo>
                    <a:pt x="313944" y="1883664"/>
                  </a:lnTo>
                  <a:cubicBezTo>
                    <a:pt x="140589" y="1883664"/>
                    <a:pt x="0" y="1743075"/>
                    <a:pt x="0" y="1569720"/>
                  </a:cubicBezTo>
                  <a:close/>
                </a:path>
              </a:pathLst>
            </a:custGeom>
            <a:solidFill>
              <a:srgbClr val="F9FBFD"/>
            </a:solidFill>
            <a:ln w="22860" cap="sq">
              <a:solidFill>
                <a:srgbClr val="EBA32C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615035" y="3812667"/>
            <a:ext cx="604266" cy="604266"/>
            <a:chOff x="0" y="0"/>
            <a:chExt cx="805688" cy="80568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05688" cy="805688"/>
            </a:xfrm>
            <a:custGeom>
              <a:avLst/>
              <a:gdLst/>
              <a:ahLst/>
              <a:cxnLst/>
              <a:rect r="r" b="b" t="t" l="l"/>
              <a:pathLst>
                <a:path h="805688" w="805688">
                  <a:moveTo>
                    <a:pt x="0" y="402844"/>
                  </a:moveTo>
                  <a:cubicBezTo>
                    <a:pt x="0" y="180340"/>
                    <a:pt x="180340" y="0"/>
                    <a:pt x="402844" y="0"/>
                  </a:cubicBezTo>
                  <a:cubicBezTo>
                    <a:pt x="625348" y="0"/>
                    <a:pt x="805688" y="180340"/>
                    <a:pt x="805688" y="402844"/>
                  </a:cubicBezTo>
                  <a:cubicBezTo>
                    <a:pt x="805688" y="625348"/>
                    <a:pt x="625348" y="805688"/>
                    <a:pt x="402844" y="805688"/>
                  </a:cubicBezTo>
                  <a:cubicBezTo>
                    <a:pt x="180340" y="805688"/>
                    <a:pt x="0" y="625348"/>
                    <a:pt x="0" y="402844"/>
                  </a:cubicBezTo>
                  <a:close/>
                </a:path>
              </a:pathLst>
            </a:custGeom>
            <a:solidFill>
              <a:srgbClr val="EBA32C"/>
            </a:solidFill>
            <a:ln w="19050" cap="sq">
              <a:solidFill>
                <a:srgbClr val="EBA32C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3624560" y="3822192"/>
            <a:ext cx="585216" cy="585216"/>
            <a:chOff x="0" y="0"/>
            <a:chExt cx="780288" cy="78028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780288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6"/>
                </a:lnSpc>
              </a:pPr>
              <a:r>
                <a:rPr lang="en-US" sz="128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4392656" y="3749040"/>
            <a:ext cx="2706624" cy="292608"/>
            <a:chOff x="0" y="0"/>
            <a:chExt cx="3608832" cy="39014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608832" cy="390144"/>
            </a:xfrm>
            <a:custGeom>
              <a:avLst/>
              <a:gdLst/>
              <a:ahLst/>
              <a:cxnLst/>
              <a:rect r="r" b="b" t="t" l="l"/>
              <a:pathLst>
                <a:path h="390144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3608832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JWT + RBAC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4392656" y="4224528"/>
            <a:ext cx="2706624" cy="512064"/>
            <a:chOff x="0" y="0"/>
            <a:chExt cx="3608832" cy="68275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608832" cy="682752"/>
            </a:xfrm>
            <a:custGeom>
              <a:avLst/>
              <a:gdLst/>
              <a:ahLst/>
              <a:cxnLst/>
              <a:rect r="r" b="b" t="t" l="l"/>
              <a:pathLst>
                <a:path h="682752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360883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6"/>
                </a:lnSpc>
              </a:pPr>
              <a:r>
                <a:rPr lang="en-US" sz="980">
                  <a:solidFill>
                    <a:srgbClr val="68788B"/>
                  </a:solidFill>
                  <a:latin typeface="Aptos"/>
                  <a:ea typeface="Aptos"/>
                  <a:cs typeface="Aptos"/>
                  <a:sym typeface="Aptos"/>
                </a:rPr>
                <a:t>Authentication &amp; Authorization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822960" y="5321808"/>
            <a:ext cx="4846320" cy="274320"/>
            <a:chOff x="0" y="0"/>
            <a:chExt cx="6461760" cy="36576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461760" cy="365760"/>
            </a:xfrm>
            <a:custGeom>
              <a:avLst/>
              <a:gdLst/>
              <a:ahLst/>
              <a:cxnLst/>
              <a:rect r="r" b="b" t="t" l="l"/>
              <a:pathLst>
                <a:path h="3657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64617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 b="true">
                  <a:solidFill>
                    <a:srgbClr val="12B1A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HOW EACH TECHNOLOGY FITS PROCURA AI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811530" y="5694426"/>
            <a:ext cx="2363724" cy="1248156"/>
            <a:chOff x="0" y="0"/>
            <a:chExt cx="3151632" cy="166420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151632" cy="1664208"/>
            </a:xfrm>
            <a:custGeom>
              <a:avLst/>
              <a:gdLst/>
              <a:ahLst/>
              <a:cxnLst/>
              <a:rect r="r" b="b" t="t" l="l"/>
              <a:pathLst>
                <a:path h="1664208" w="3151632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lnTo>
                    <a:pt x="2874264" y="0"/>
                  </a:lnTo>
                  <a:cubicBezTo>
                    <a:pt x="3027426" y="0"/>
                    <a:pt x="3151632" y="124206"/>
                    <a:pt x="3151632" y="277368"/>
                  </a:cubicBezTo>
                  <a:lnTo>
                    <a:pt x="3151632" y="1386840"/>
                  </a:lnTo>
                  <a:cubicBezTo>
                    <a:pt x="3151632" y="1540002"/>
                    <a:pt x="3027426" y="1664208"/>
                    <a:pt x="2874264" y="1664208"/>
                  </a:cubicBezTo>
                  <a:lnTo>
                    <a:pt x="277368" y="1664208"/>
                  </a:lnTo>
                  <a:cubicBezTo>
                    <a:pt x="124206" y="1664208"/>
                    <a:pt x="0" y="1540002"/>
                    <a:pt x="0" y="1386840"/>
                  </a:cubicBezTo>
                  <a:close/>
                </a:path>
              </a:pathLst>
            </a:custGeom>
            <a:solidFill>
              <a:srgbClr val="F4F8FC"/>
            </a:solidFill>
            <a:ln w="22860" cap="sq">
              <a:solidFill>
                <a:srgbClr val="3182F6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896112" y="5870448"/>
            <a:ext cx="2194560" cy="292608"/>
            <a:chOff x="0" y="0"/>
            <a:chExt cx="2926080" cy="39014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926080" cy="390144"/>
            </a:xfrm>
            <a:custGeom>
              <a:avLst/>
              <a:gdLst/>
              <a:ahLst/>
              <a:cxnLst/>
              <a:rect r="r" b="b" t="t" l="l"/>
              <a:pathLst>
                <a:path h="39014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2926080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43"/>
                </a:lnSpc>
              </a:pPr>
              <a:r>
                <a:rPr lang="en-US" sz="1119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React Dashboard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896112" y="6345936"/>
            <a:ext cx="2194560" cy="274320"/>
            <a:chOff x="0" y="0"/>
            <a:chExt cx="2926080" cy="36576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926080" cy="365760"/>
            </a:xfrm>
            <a:custGeom>
              <a:avLst/>
              <a:gdLst/>
              <a:ahLst/>
              <a:cxnLst/>
              <a:rect r="r" b="b" t="t" l="l"/>
              <a:pathLst>
                <a:path h="3657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292608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01"/>
                </a:lnSpc>
              </a:pPr>
              <a:r>
                <a:rPr lang="en-US" sz="918">
                  <a:solidFill>
                    <a:srgbClr val="68788B"/>
                  </a:solidFill>
                  <a:latin typeface="Aptos"/>
                  <a:ea typeface="Aptos"/>
                  <a:cs typeface="Aptos"/>
                  <a:sym typeface="Aptos"/>
                </a:rPr>
                <a:t>Requests</a:t>
              </a:r>
            </a:p>
          </p:txBody>
        </p:sp>
      </p:grpSp>
      <p:sp>
        <p:nvSpPr>
          <p:cNvPr name="AutoShape 126" id="126"/>
          <p:cNvSpPr/>
          <p:nvPr/>
        </p:nvSpPr>
        <p:spPr>
          <a:xfrm rot="163560">
            <a:off x="3197838" y="6313742"/>
            <a:ext cx="480603" cy="0"/>
          </a:xfrm>
          <a:prstGeom prst="line">
            <a:avLst/>
          </a:prstGeom>
          <a:ln cap="rnd" w="9525">
            <a:solidFill>
              <a:srgbClr val="3182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7" id="127"/>
          <p:cNvGrpSpPr/>
          <p:nvPr/>
        </p:nvGrpSpPr>
        <p:grpSpPr>
          <a:xfrm rot="0">
            <a:off x="3701034" y="5694426"/>
            <a:ext cx="2363724" cy="1248156"/>
            <a:chOff x="0" y="0"/>
            <a:chExt cx="3151632" cy="166420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3151632" cy="1664208"/>
            </a:xfrm>
            <a:custGeom>
              <a:avLst/>
              <a:gdLst/>
              <a:ahLst/>
              <a:cxnLst/>
              <a:rect r="r" b="b" t="t" l="l"/>
              <a:pathLst>
                <a:path h="1664208" w="3151632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lnTo>
                    <a:pt x="2874264" y="0"/>
                  </a:lnTo>
                  <a:cubicBezTo>
                    <a:pt x="3027426" y="0"/>
                    <a:pt x="3151632" y="124206"/>
                    <a:pt x="3151632" y="277368"/>
                  </a:cubicBezTo>
                  <a:lnTo>
                    <a:pt x="3151632" y="1386840"/>
                  </a:lnTo>
                  <a:cubicBezTo>
                    <a:pt x="3151632" y="1540002"/>
                    <a:pt x="3027426" y="1664208"/>
                    <a:pt x="2874264" y="1664208"/>
                  </a:cubicBezTo>
                  <a:lnTo>
                    <a:pt x="277368" y="1664208"/>
                  </a:lnTo>
                  <a:cubicBezTo>
                    <a:pt x="124206" y="1664208"/>
                    <a:pt x="0" y="1540002"/>
                    <a:pt x="0" y="1386840"/>
                  </a:cubicBezTo>
                  <a:close/>
                </a:path>
              </a:pathLst>
            </a:custGeom>
            <a:solidFill>
              <a:srgbClr val="F4F8FC"/>
            </a:solidFill>
            <a:ln w="22860" cap="sq">
              <a:solidFill>
                <a:srgbClr val="12B1A0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3785616" y="5870448"/>
            <a:ext cx="2194560" cy="292608"/>
            <a:chOff x="0" y="0"/>
            <a:chExt cx="2926080" cy="39014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926080" cy="390144"/>
            </a:xfrm>
            <a:custGeom>
              <a:avLst/>
              <a:gdLst/>
              <a:ahLst/>
              <a:cxnLst/>
              <a:rect r="r" b="b" t="t" l="l"/>
              <a:pathLst>
                <a:path h="39014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0"/>
              <a:ext cx="2926080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43"/>
                </a:lnSpc>
              </a:pPr>
              <a:r>
                <a:rPr lang="en-US" sz="1119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FastAPI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3785616" y="6345936"/>
            <a:ext cx="2194560" cy="274320"/>
            <a:chOff x="0" y="0"/>
            <a:chExt cx="2926080" cy="36576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926080" cy="365760"/>
            </a:xfrm>
            <a:custGeom>
              <a:avLst/>
              <a:gdLst/>
              <a:ahLst/>
              <a:cxnLst/>
              <a:rect r="r" b="b" t="t" l="l"/>
              <a:pathLst>
                <a:path h="3657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9525"/>
              <a:ext cx="292608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01"/>
                </a:lnSpc>
              </a:pPr>
              <a:r>
                <a:rPr lang="en-US" sz="918">
                  <a:solidFill>
                    <a:srgbClr val="68788B"/>
                  </a:solidFill>
                  <a:latin typeface="Aptos"/>
                  <a:ea typeface="Aptos"/>
                  <a:cs typeface="Aptos"/>
                  <a:sym typeface="Aptos"/>
                </a:rPr>
                <a:t>Routing</a:t>
              </a:r>
            </a:p>
          </p:txBody>
        </p:sp>
      </p:grpSp>
      <p:sp>
        <p:nvSpPr>
          <p:cNvPr name="AutoShape 135" id="135"/>
          <p:cNvSpPr/>
          <p:nvPr/>
        </p:nvSpPr>
        <p:spPr>
          <a:xfrm rot="163560">
            <a:off x="6087342" y="6313742"/>
            <a:ext cx="480603" cy="0"/>
          </a:xfrm>
          <a:prstGeom prst="line">
            <a:avLst/>
          </a:prstGeom>
          <a:ln cap="rnd" w="9525">
            <a:solidFill>
              <a:srgbClr val="3182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6" id="136"/>
          <p:cNvGrpSpPr/>
          <p:nvPr/>
        </p:nvGrpSpPr>
        <p:grpSpPr>
          <a:xfrm rot="0">
            <a:off x="6590538" y="5694426"/>
            <a:ext cx="2363724" cy="1248156"/>
            <a:chOff x="0" y="0"/>
            <a:chExt cx="3151632" cy="166420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151632" cy="1664208"/>
            </a:xfrm>
            <a:custGeom>
              <a:avLst/>
              <a:gdLst/>
              <a:ahLst/>
              <a:cxnLst/>
              <a:rect r="r" b="b" t="t" l="l"/>
              <a:pathLst>
                <a:path h="1664208" w="3151632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lnTo>
                    <a:pt x="2874264" y="0"/>
                  </a:lnTo>
                  <a:cubicBezTo>
                    <a:pt x="3027426" y="0"/>
                    <a:pt x="3151632" y="124206"/>
                    <a:pt x="3151632" y="277368"/>
                  </a:cubicBezTo>
                  <a:lnTo>
                    <a:pt x="3151632" y="1386840"/>
                  </a:lnTo>
                  <a:cubicBezTo>
                    <a:pt x="3151632" y="1540002"/>
                    <a:pt x="3027426" y="1664208"/>
                    <a:pt x="2874264" y="1664208"/>
                  </a:cubicBezTo>
                  <a:lnTo>
                    <a:pt x="277368" y="1664208"/>
                  </a:lnTo>
                  <a:cubicBezTo>
                    <a:pt x="124206" y="1664208"/>
                    <a:pt x="0" y="1540002"/>
                    <a:pt x="0" y="1386840"/>
                  </a:cubicBezTo>
                  <a:close/>
                </a:path>
              </a:pathLst>
            </a:custGeom>
            <a:solidFill>
              <a:srgbClr val="F4F8FC"/>
            </a:solidFill>
            <a:ln w="22860" cap="sq">
              <a:solidFill>
                <a:srgbClr val="8253E0"/>
              </a:solidFill>
              <a:prstDash val="solid"/>
              <a:miter/>
            </a:ln>
          </p:spPr>
        </p:sp>
      </p:grpSp>
      <p:grpSp>
        <p:nvGrpSpPr>
          <p:cNvPr name="Group 138" id="138"/>
          <p:cNvGrpSpPr/>
          <p:nvPr/>
        </p:nvGrpSpPr>
        <p:grpSpPr>
          <a:xfrm rot="0">
            <a:off x="6675120" y="5870448"/>
            <a:ext cx="2194560" cy="292608"/>
            <a:chOff x="0" y="0"/>
            <a:chExt cx="2926080" cy="390144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926080" cy="390144"/>
            </a:xfrm>
            <a:custGeom>
              <a:avLst/>
              <a:gdLst/>
              <a:ahLst/>
              <a:cxnLst/>
              <a:rect r="r" b="b" t="t" l="l"/>
              <a:pathLst>
                <a:path h="39014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0"/>
              <a:ext cx="2926080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43"/>
                </a:lnSpc>
              </a:pPr>
              <a:r>
                <a:rPr lang="en-US" sz="1119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LangGraph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6675120" y="6345936"/>
            <a:ext cx="2194560" cy="274320"/>
            <a:chOff x="0" y="0"/>
            <a:chExt cx="2926080" cy="36576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926080" cy="365760"/>
            </a:xfrm>
            <a:custGeom>
              <a:avLst/>
              <a:gdLst/>
              <a:ahLst/>
              <a:cxnLst/>
              <a:rect r="r" b="b" t="t" l="l"/>
              <a:pathLst>
                <a:path h="3657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9525"/>
              <a:ext cx="292608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01"/>
                </a:lnSpc>
              </a:pPr>
              <a:r>
                <a:rPr lang="en-US" sz="918">
                  <a:solidFill>
                    <a:srgbClr val="68788B"/>
                  </a:solidFill>
                  <a:latin typeface="Aptos"/>
                  <a:ea typeface="Aptos"/>
                  <a:cs typeface="Aptos"/>
                  <a:sym typeface="Aptos"/>
                </a:rPr>
                <a:t>Agent workflow</a:t>
              </a:r>
            </a:p>
          </p:txBody>
        </p:sp>
      </p:grpSp>
      <p:sp>
        <p:nvSpPr>
          <p:cNvPr name="AutoShape 144" id="144"/>
          <p:cNvSpPr/>
          <p:nvPr/>
        </p:nvSpPr>
        <p:spPr>
          <a:xfrm rot="163560">
            <a:off x="8976846" y="6313741"/>
            <a:ext cx="480603" cy="0"/>
          </a:xfrm>
          <a:prstGeom prst="line">
            <a:avLst/>
          </a:prstGeom>
          <a:ln cap="rnd" w="9525">
            <a:solidFill>
              <a:srgbClr val="3182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5" id="145"/>
          <p:cNvGrpSpPr/>
          <p:nvPr/>
        </p:nvGrpSpPr>
        <p:grpSpPr>
          <a:xfrm rot="0">
            <a:off x="9480042" y="5694426"/>
            <a:ext cx="2363724" cy="1248156"/>
            <a:chOff x="0" y="0"/>
            <a:chExt cx="3151632" cy="166420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3151632" cy="1664208"/>
            </a:xfrm>
            <a:custGeom>
              <a:avLst/>
              <a:gdLst/>
              <a:ahLst/>
              <a:cxnLst/>
              <a:rect r="r" b="b" t="t" l="l"/>
              <a:pathLst>
                <a:path h="1664208" w="3151632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lnTo>
                    <a:pt x="2874264" y="0"/>
                  </a:lnTo>
                  <a:cubicBezTo>
                    <a:pt x="3027426" y="0"/>
                    <a:pt x="3151632" y="124206"/>
                    <a:pt x="3151632" y="277368"/>
                  </a:cubicBezTo>
                  <a:lnTo>
                    <a:pt x="3151632" y="1386840"/>
                  </a:lnTo>
                  <a:cubicBezTo>
                    <a:pt x="3151632" y="1540002"/>
                    <a:pt x="3027426" y="1664208"/>
                    <a:pt x="2874264" y="1664208"/>
                  </a:cubicBezTo>
                  <a:lnTo>
                    <a:pt x="277368" y="1664208"/>
                  </a:lnTo>
                  <a:cubicBezTo>
                    <a:pt x="124206" y="1664208"/>
                    <a:pt x="0" y="1540002"/>
                    <a:pt x="0" y="1386840"/>
                  </a:cubicBezTo>
                  <a:close/>
                </a:path>
              </a:pathLst>
            </a:custGeom>
            <a:solidFill>
              <a:srgbClr val="F4F8FC"/>
            </a:solidFill>
            <a:ln w="22860" cap="sq">
              <a:solidFill>
                <a:srgbClr val="EBA32C"/>
              </a:solidFill>
              <a:prstDash val="solid"/>
              <a:miter/>
            </a:ln>
          </p:spPr>
        </p:sp>
      </p:grpSp>
      <p:grpSp>
        <p:nvGrpSpPr>
          <p:cNvPr name="Group 147" id="147"/>
          <p:cNvGrpSpPr/>
          <p:nvPr/>
        </p:nvGrpSpPr>
        <p:grpSpPr>
          <a:xfrm rot="0">
            <a:off x="9564624" y="5870448"/>
            <a:ext cx="2194560" cy="292608"/>
            <a:chOff x="0" y="0"/>
            <a:chExt cx="2926080" cy="390144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926080" cy="390144"/>
            </a:xfrm>
            <a:custGeom>
              <a:avLst/>
              <a:gdLst/>
              <a:ahLst/>
              <a:cxnLst/>
              <a:rect r="r" b="b" t="t" l="l"/>
              <a:pathLst>
                <a:path h="39014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0"/>
              <a:ext cx="2926080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43"/>
                </a:lnSpc>
              </a:pPr>
              <a:r>
                <a:rPr lang="en-US" sz="1119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Vendor APIs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9564624" y="6345936"/>
            <a:ext cx="2194560" cy="274320"/>
            <a:chOff x="0" y="0"/>
            <a:chExt cx="2926080" cy="36576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926080" cy="365760"/>
            </a:xfrm>
            <a:custGeom>
              <a:avLst/>
              <a:gdLst/>
              <a:ahLst/>
              <a:cxnLst/>
              <a:rect r="r" b="b" t="t" l="l"/>
              <a:pathLst>
                <a:path h="3657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9525"/>
              <a:ext cx="292608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01"/>
                </a:lnSpc>
              </a:pPr>
              <a:r>
                <a:rPr lang="en-US" sz="918">
                  <a:solidFill>
                    <a:srgbClr val="68788B"/>
                  </a:solidFill>
                  <a:latin typeface="Aptos"/>
                  <a:ea typeface="Aptos"/>
                  <a:cs typeface="Aptos"/>
                  <a:sym typeface="Aptos"/>
                </a:rPr>
                <a:t>Discovery</a:t>
              </a:r>
            </a:p>
          </p:txBody>
        </p:sp>
      </p:grpSp>
      <p:sp>
        <p:nvSpPr>
          <p:cNvPr name="AutoShape 153" id="153"/>
          <p:cNvSpPr/>
          <p:nvPr/>
        </p:nvSpPr>
        <p:spPr>
          <a:xfrm rot="163560">
            <a:off x="11866350" y="6313741"/>
            <a:ext cx="480603" cy="0"/>
          </a:xfrm>
          <a:prstGeom prst="line">
            <a:avLst/>
          </a:prstGeom>
          <a:ln cap="rnd" w="9525">
            <a:solidFill>
              <a:srgbClr val="3182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4" id="154"/>
          <p:cNvGrpSpPr/>
          <p:nvPr/>
        </p:nvGrpSpPr>
        <p:grpSpPr>
          <a:xfrm rot="0">
            <a:off x="12369546" y="5694426"/>
            <a:ext cx="2363724" cy="1248156"/>
            <a:chOff x="0" y="0"/>
            <a:chExt cx="3151632" cy="1664208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3151632" cy="1664208"/>
            </a:xfrm>
            <a:custGeom>
              <a:avLst/>
              <a:gdLst/>
              <a:ahLst/>
              <a:cxnLst/>
              <a:rect r="r" b="b" t="t" l="l"/>
              <a:pathLst>
                <a:path h="1664208" w="3151632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lnTo>
                    <a:pt x="2874264" y="0"/>
                  </a:lnTo>
                  <a:cubicBezTo>
                    <a:pt x="3027426" y="0"/>
                    <a:pt x="3151632" y="124206"/>
                    <a:pt x="3151632" y="277368"/>
                  </a:cubicBezTo>
                  <a:lnTo>
                    <a:pt x="3151632" y="1386840"/>
                  </a:lnTo>
                  <a:cubicBezTo>
                    <a:pt x="3151632" y="1540002"/>
                    <a:pt x="3027426" y="1664208"/>
                    <a:pt x="2874264" y="1664208"/>
                  </a:cubicBezTo>
                  <a:lnTo>
                    <a:pt x="277368" y="1664208"/>
                  </a:lnTo>
                  <a:cubicBezTo>
                    <a:pt x="124206" y="1664208"/>
                    <a:pt x="0" y="1540002"/>
                    <a:pt x="0" y="1386840"/>
                  </a:cubicBezTo>
                  <a:close/>
                </a:path>
              </a:pathLst>
            </a:custGeom>
            <a:solidFill>
              <a:srgbClr val="F4F8FC"/>
            </a:solidFill>
            <a:ln w="22860" cap="sq">
              <a:solidFill>
                <a:srgbClr val="3182F6"/>
              </a:solidFill>
              <a:prstDash val="solid"/>
              <a:miter/>
            </a:ln>
          </p:spPr>
        </p:sp>
      </p:grpSp>
      <p:grpSp>
        <p:nvGrpSpPr>
          <p:cNvPr name="Group 156" id="156"/>
          <p:cNvGrpSpPr/>
          <p:nvPr/>
        </p:nvGrpSpPr>
        <p:grpSpPr>
          <a:xfrm rot="0">
            <a:off x="12454128" y="5870448"/>
            <a:ext cx="2194560" cy="292608"/>
            <a:chOff x="0" y="0"/>
            <a:chExt cx="2926080" cy="390144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926080" cy="390144"/>
            </a:xfrm>
            <a:custGeom>
              <a:avLst/>
              <a:gdLst/>
              <a:ahLst/>
              <a:cxnLst/>
              <a:rect r="r" b="b" t="t" l="l"/>
              <a:pathLst>
                <a:path h="39014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0"/>
              <a:ext cx="2926080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43"/>
                </a:lnSpc>
              </a:pPr>
              <a:r>
                <a:rPr lang="en-US" sz="1119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PostgreSQL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2454128" y="6345936"/>
            <a:ext cx="2194560" cy="274320"/>
            <a:chOff x="0" y="0"/>
            <a:chExt cx="2926080" cy="36576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926080" cy="365760"/>
            </a:xfrm>
            <a:custGeom>
              <a:avLst/>
              <a:gdLst/>
              <a:ahLst/>
              <a:cxnLst/>
              <a:rect r="r" b="b" t="t" l="l"/>
              <a:pathLst>
                <a:path h="3657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9525"/>
              <a:ext cx="292608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01"/>
                </a:lnSpc>
              </a:pPr>
              <a:r>
                <a:rPr lang="en-US" sz="918">
                  <a:solidFill>
                    <a:srgbClr val="68788B"/>
                  </a:solidFill>
                  <a:latin typeface="Aptos"/>
                  <a:ea typeface="Aptos"/>
                  <a:cs typeface="Aptos"/>
                  <a:sym typeface="Aptos"/>
                </a:rPr>
                <a:t>Storage</a:t>
              </a:r>
            </a:p>
          </p:txBody>
        </p:sp>
      </p:grpSp>
      <p:sp>
        <p:nvSpPr>
          <p:cNvPr name="AutoShape 162" id="162"/>
          <p:cNvSpPr/>
          <p:nvPr/>
        </p:nvSpPr>
        <p:spPr>
          <a:xfrm rot="163560">
            <a:off x="14755854" y="6313741"/>
            <a:ext cx="480603" cy="0"/>
          </a:xfrm>
          <a:prstGeom prst="line">
            <a:avLst/>
          </a:prstGeom>
          <a:ln cap="rnd" w="9525">
            <a:solidFill>
              <a:srgbClr val="3182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3" id="163"/>
          <p:cNvGrpSpPr/>
          <p:nvPr/>
        </p:nvGrpSpPr>
        <p:grpSpPr>
          <a:xfrm rot="0">
            <a:off x="15259050" y="5694426"/>
            <a:ext cx="2363724" cy="1248156"/>
            <a:chOff x="0" y="0"/>
            <a:chExt cx="3151632" cy="1664208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3151632" cy="1664208"/>
            </a:xfrm>
            <a:custGeom>
              <a:avLst/>
              <a:gdLst/>
              <a:ahLst/>
              <a:cxnLst/>
              <a:rect r="r" b="b" t="t" l="l"/>
              <a:pathLst>
                <a:path h="1664208" w="3151632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lnTo>
                    <a:pt x="2874264" y="0"/>
                  </a:lnTo>
                  <a:cubicBezTo>
                    <a:pt x="3027426" y="0"/>
                    <a:pt x="3151632" y="124206"/>
                    <a:pt x="3151632" y="277368"/>
                  </a:cubicBezTo>
                  <a:lnTo>
                    <a:pt x="3151632" y="1386840"/>
                  </a:lnTo>
                  <a:cubicBezTo>
                    <a:pt x="3151632" y="1540002"/>
                    <a:pt x="3027426" y="1664208"/>
                    <a:pt x="2874264" y="1664208"/>
                  </a:cubicBezTo>
                  <a:lnTo>
                    <a:pt x="277368" y="1664208"/>
                  </a:lnTo>
                  <a:cubicBezTo>
                    <a:pt x="124206" y="1664208"/>
                    <a:pt x="0" y="1540002"/>
                    <a:pt x="0" y="1386840"/>
                  </a:cubicBezTo>
                  <a:close/>
                </a:path>
              </a:pathLst>
            </a:custGeom>
            <a:solidFill>
              <a:srgbClr val="F4F8FC"/>
            </a:solidFill>
            <a:ln w="22860" cap="sq">
              <a:solidFill>
                <a:srgbClr val="2DA57A"/>
              </a:solidFill>
              <a:prstDash val="solid"/>
              <a:miter/>
            </a:ln>
          </p:spPr>
        </p:sp>
      </p:grpSp>
      <p:grpSp>
        <p:nvGrpSpPr>
          <p:cNvPr name="Group 165" id="165"/>
          <p:cNvGrpSpPr/>
          <p:nvPr/>
        </p:nvGrpSpPr>
        <p:grpSpPr>
          <a:xfrm rot="0">
            <a:off x="15343632" y="5870448"/>
            <a:ext cx="2194560" cy="292608"/>
            <a:chOff x="0" y="0"/>
            <a:chExt cx="2926080" cy="390144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926080" cy="390144"/>
            </a:xfrm>
            <a:custGeom>
              <a:avLst/>
              <a:gdLst/>
              <a:ahLst/>
              <a:cxnLst/>
              <a:rect r="r" b="b" t="t" l="l"/>
              <a:pathLst>
                <a:path h="39014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0"/>
              <a:ext cx="2926080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43"/>
                </a:lnSpc>
              </a:pPr>
              <a:r>
                <a:rPr lang="en-US" sz="1119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Audit Ledger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5343632" y="6345936"/>
            <a:ext cx="2194560" cy="274320"/>
            <a:chOff x="0" y="0"/>
            <a:chExt cx="2926080" cy="36576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926080" cy="365760"/>
            </a:xfrm>
            <a:custGeom>
              <a:avLst/>
              <a:gdLst/>
              <a:ahLst/>
              <a:cxnLst/>
              <a:rect r="r" b="b" t="t" l="l"/>
              <a:pathLst>
                <a:path h="3657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9525"/>
              <a:ext cx="292608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01"/>
                </a:lnSpc>
              </a:pPr>
              <a:r>
                <a:rPr lang="en-US" sz="918">
                  <a:solidFill>
                    <a:srgbClr val="68788B"/>
                  </a:solidFill>
                  <a:latin typeface="Aptos"/>
                  <a:ea typeface="Aptos"/>
                  <a:cs typeface="Aptos"/>
                  <a:sym typeface="Aptos"/>
                </a:rPr>
                <a:t>Traceability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811530" y="7303770"/>
            <a:ext cx="16664940" cy="900684"/>
            <a:chOff x="0" y="0"/>
            <a:chExt cx="22219920" cy="1200912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2219920" cy="1200912"/>
            </a:xfrm>
            <a:custGeom>
              <a:avLst/>
              <a:gdLst/>
              <a:ahLst/>
              <a:cxnLst/>
              <a:rect r="r" b="b" t="t" l="l"/>
              <a:pathLst>
                <a:path h="1200912" w="22219920">
                  <a:moveTo>
                    <a:pt x="0" y="200152"/>
                  </a:moveTo>
                  <a:cubicBezTo>
                    <a:pt x="0" y="89662"/>
                    <a:pt x="89662" y="0"/>
                    <a:pt x="200152" y="0"/>
                  </a:cubicBezTo>
                  <a:lnTo>
                    <a:pt x="22019768" y="0"/>
                  </a:lnTo>
                  <a:cubicBezTo>
                    <a:pt x="22130257" y="0"/>
                    <a:pt x="22219920" y="89662"/>
                    <a:pt x="22219920" y="200152"/>
                  </a:cubicBezTo>
                  <a:lnTo>
                    <a:pt x="22219920" y="1000760"/>
                  </a:lnTo>
                  <a:cubicBezTo>
                    <a:pt x="22219920" y="1111250"/>
                    <a:pt x="22130257" y="1200912"/>
                    <a:pt x="22019768" y="1200912"/>
                  </a:cubicBezTo>
                  <a:lnTo>
                    <a:pt x="200152" y="1200912"/>
                  </a:lnTo>
                  <a:cubicBezTo>
                    <a:pt x="89662" y="1200912"/>
                    <a:pt x="0" y="1111250"/>
                    <a:pt x="0" y="1000760"/>
                  </a:cubicBezTo>
                  <a:close/>
                </a:path>
              </a:pathLst>
            </a:custGeom>
            <a:solidFill>
              <a:srgbClr val="F1F9F8"/>
            </a:solidFill>
            <a:ln w="22860" cap="sq">
              <a:solidFill>
                <a:srgbClr val="12B1A0"/>
              </a:solidFill>
              <a:prstDash val="solid"/>
              <a:miter/>
            </a:ln>
          </p:spPr>
        </p:sp>
      </p:grpSp>
      <p:grpSp>
        <p:nvGrpSpPr>
          <p:cNvPr name="Group 173" id="173"/>
          <p:cNvGrpSpPr/>
          <p:nvPr/>
        </p:nvGrpSpPr>
        <p:grpSpPr>
          <a:xfrm rot="0">
            <a:off x="1097280" y="7498080"/>
            <a:ext cx="3931920" cy="256032"/>
            <a:chOff x="0" y="0"/>
            <a:chExt cx="5242560" cy="34137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5242560" cy="341376"/>
            </a:xfrm>
            <a:custGeom>
              <a:avLst/>
              <a:gdLst/>
              <a:ahLst/>
              <a:cxnLst/>
              <a:rect r="r" b="b" t="t" l="l"/>
              <a:pathLst>
                <a:path h="341376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9525"/>
              <a:ext cx="5242560" cy="350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71"/>
                </a:lnSpc>
              </a:pPr>
              <a:r>
                <a:rPr lang="en-US" sz="1059" b="true">
                  <a:solidFill>
                    <a:srgbClr val="12B1A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ONE CONTROLLED PROCUREMENT STACK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5084064" y="7479792"/>
            <a:ext cx="11923776" cy="292608"/>
            <a:chOff x="0" y="0"/>
            <a:chExt cx="15898368" cy="390144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5898368" cy="390144"/>
            </a:xfrm>
            <a:custGeom>
              <a:avLst/>
              <a:gdLst/>
              <a:ahLst/>
              <a:cxnLst/>
              <a:rect r="r" b="b" t="t" l="l"/>
              <a:pathLst>
                <a:path h="390144" w="15898368">
                  <a:moveTo>
                    <a:pt x="0" y="0"/>
                  </a:moveTo>
                  <a:lnTo>
                    <a:pt x="15898368" y="0"/>
                  </a:lnTo>
                  <a:lnTo>
                    <a:pt x="15898368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4015" r="0" b="-744015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0"/>
              <a:ext cx="15898368" cy="39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Dashboard → Agent reasoning → Policy → Execution → Audit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822960" y="8595360"/>
            <a:ext cx="2286000" cy="256032"/>
            <a:chOff x="0" y="0"/>
            <a:chExt cx="3048000" cy="341376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3048000" cy="341376"/>
            </a:xfrm>
            <a:custGeom>
              <a:avLst/>
              <a:gdLst/>
              <a:ahLst/>
              <a:cxnLst/>
              <a:rect r="r" b="b" t="t" l="l"/>
              <a:pathLst>
                <a:path h="341376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9525"/>
              <a:ext cx="3048000" cy="3318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"/>
                </a:lnSpc>
              </a:pPr>
              <a:r>
                <a:rPr lang="en-US" sz="1080" b="true">
                  <a:solidFill>
                    <a:srgbClr val="3182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INTEGRATION PATH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3163824" y="8558784"/>
            <a:ext cx="14301216" cy="329184"/>
            <a:chOff x="0" y="0"/>
            <a:chExt cx="19068288" cy="43891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9068289" cy="438912"/>
            </a:xfrm>
            <a:custGeom>
              <a:avLst/>
              <a:gdLst/>
              <a:ahLst/>
              <a:cxnLst/>
              <a:rect r="r" b="b" t="t" l="l"/>
              <a:pathLst>
                <a:path h="438912" w="19068289">
                  <a:moveTo>
                    <a:pt x="0" y="0"/>
                  </a:moveTo>
                  <a:lnTo>
                    <a:pt x="19068289" y="0"/>
                  </a:lnTo>
                  <a:lnTo>
                    <a:pt x="19068289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6516" r="0" b="-796516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19068288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15"/>
                </a:lnSpc>
              </a:pPr>
              <a:r>
                <a:rPr lang="en-US" sz="1179" b="true">
                  <a:solidFill>
                    <a:srgbClr val="1624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React → FastAPI → LangGraph → Vendor APIs → PostgreSQL → Audit Ledger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822960" y="9692640"/>
            <a:ext cx="4023360" cy="237744"/>
            <a:chOff x="0" y="0"/>
            <a:chExt cx="5364480" cy="316992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5364480" cy="316992"/>
            </a:xfrm>
            <a:custGeom>
              <a:avLst/>
              <a:gdLst/>
              <a:ahLst/>
              <a:cxnLst/>
              <a:rect r="r" b="b" t="t" l="l"/>
              <a:pathLst>
                <a:path h="3169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746" r="0" b="-279746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5364480" cy="316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2"/>
                </a:lnSpc>
              </a:pPr>
              <a:r>
                <a:rPr lang="en-US" sz="960" b="true">
                  <a:solidFill>
                    <a:srgbClr val="6878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PROCURA AI  ·  ROCKATHON'26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DAHSFatTIgY</dc:identifier>
  <dcterms:modified xsi:type="dcterms:W3CDTF">2011-08-01T06:04:30Z</dcterms:modified>
  <cp:revision>1</cp:revision>
  <dc:title>TwinThink_PanimalarEngineeringCollege_PS1.pptx</dc:title>
</cp:coreProperties>
</file>